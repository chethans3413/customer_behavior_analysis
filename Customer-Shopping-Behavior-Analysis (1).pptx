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4630400" cy="8229600"/>
  <p:notesSz cx="14630400" cy="8229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97280" y="2551176"/>
            <a:ext cx="12435840" cy="17282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50" b="1" i="0">
                <a:solidFill>
                  <a:srgbClr val="006646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194560" y="4608576"/>
            <a:ext cx="10241280" cy="2057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50" b="0" i="0">
                <a:solidFill>
                  <a:srgbClr val="4B4A4A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50" b="1" i="0">
                <a:solidFill>
                  <a:srgbClr val="006646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750" b="0" i="0">
                <a:solidFill>
                  <a:srgbClr val="4B4A4A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50" b="1" i="0">
                <a:solidFill>
                  <a:srgbClr val="006646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731520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7534656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50" b="1" i="0">
                <a:solidFill>
                  <a:srgbClr val="006646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14630400" y="0"/>
                </a:moveTo>
                <a:lnTo>
                  <a:pt x="0" y="0"/>
                </a:lnTo>
                <a:lnTo>
                  <a:pt x="0" y="8229600"/>
                </a:lnTo>
                <a:lnTo>
                  <a:pt x="14630400" y="8229600"/>
                </a:lnTo>
                <a:lnTo>
                  <a:pt x="14630400" y="0"/>
                </a:lnTo>
                <a:close/>
              </a:path>
            </a:pathLst>
          </a:custGeom>
          <a:solidFill>
            <a:srgbClr val="E5F8F2">
              <a:alpha val="94900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39192" y="7749540"/>
            <a:ext cx="1722602" cy="41147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14630400" y="0"/>
                </a:moveTo>
                <a:lnTo>
                  <a:pt x="0" y="0"/>
                </a:lnTo>
                <a:lnTo>
                  <a:pt x="0" y="8229600"/>
                </a:lnTo>
                <a:lnTo>
                  <a:pt x="14630400" y="8229600"/>
                </a:lnTo>
                <a:lnTo>
                  <a:pt x="14630400" y="0"/>
                </a:lnTo>
                <a:close/>
              </a:path>
            </a:pathLst>
          </a:custGeom>
          <a:solidFill>
            <a:srgbClr val="E5F8F2">
              <a:alpha val="949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1089" y="1770202"/>
            <a:ext cx="6986905" cy="5664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50" b="1" i="0">
                <a:solidFill>
                  <a:srgbClr val="006646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67487" y="2980359"/>
            <a:ext cx="6936105" cy="2921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50" b="0" i="0">
                <a:solidFill>
                  <a:srgbClr val="4B4A4A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974336" y="7653528"/>
            <a:ext cx="4681728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731520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0533888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16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17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81089" y="2075497"/>
            <a:ext cx="5424170" cy="1408430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ts val="5550"/>
              </a:lnSpc>
              <a:tabLst>
                <a:tab pos="2585720" algn="l"/>
                <a:tab pos="2805430" algn="l"/>
              </a:tabLst>
            </a:pPr>
            <a:r>
              <a:rPr dirty="0" sz="4450" spc="-10"/>
              <a:t>Customer</a:t>
            </a:r>
            <a:r>
              <a:rPr dirty="0" sz="4450"/>
              <a:t>	</a:t>
            </a:r>
            <a:r>
              <a:rPr dirty="0" sz="4450" spc="-10"/>
              <a:t>Shopping Behavior</a:t>
            </a:r>
            <a:r>
              <a:rPr dirty="0" sz="4450"/>
              <a:t>	</a:t>
            </a:r>
            <a:r>
              <a:rPr dirty="0" sz="4450" spc="-10"/>
              <a:t>Analysis</a:t>
            </a:r>
            <a:endParaRPr sz="4450"/>
          </a:p>
        </p:txBody>
      </p:sp>
      <p:sp>
        <p:nvSpPr>
          <p:cNvPr id="4" name="object 4" descr=""/>
          <p:cNvSpPr txBox="1"/>
          <p:nvPr/>
        </p:nvSpPr>
        <p:spPr>
          <a:xfrm>
            <a:off x="781089" y="3813797"/>
            <a:ext cx="6690995" cy="11112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5700"/>
              </a:lnSpc>
              <a:spcBef>
                <a:spcPts val="100"/>
              </a:spcBef>
            </a:pPr>
            <a:r>
              <a:rPr dirty="0" sz="1750" spc="-20">
                <a:solidFill>
                  <a:srgbClr val="4B4A4A"/>
                </a:solidFill>
                <a:latin typeface="Arial"/>
                <a:cs typeface="Arial"/>
              </a:rPr>
              <a:t>End-to-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end</a:t>
            </a:r>
            <a:r>
              <a:rPr dirty="0" sz="1750" spc="-5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data</a:t>
            </a:r>
            <a:r>
              <a:rPr dirty="0" sz="1750" spc="-50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analytics</a:t>
            </a:r>
            <a:r>
              <a:rPr dirty="0" sz="1750" spc="-50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project</a:t>
            </a:r>
            <a:r>
              <a:rPr dirty="0" sz="1750" spc="-50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4B4A4A"/>
                </a:solidFill>
                <a:latin typeface="Arial"/>
                <a:cs typeface="Arial"/>
              </a:rPr>
              <a:t>demonstrating</a:t>
            </a:r>
            <a:r>
              <a:rPr dirty="0" sz="1750" spc="-50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data</a:t>
            </a:r>
            <a:r>
              <a:rPr dirty="0" sz="1750" spc="-50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cleaning,</a:t>
            </a:r>
            <a:r>
              <a:rPr dirty="0" sz="1750" spc="-50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 spc="-25">
                <a:solidFill>
                  <a:srgbClr val="4B4A4A"/>
                </a:solidFill>
                <a:latin typeface="Arial"/>
                <a:cs typeface="Arial"/>
              </a:rPr>
              <a:t>SQL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database</a:t>
            </a:r>
            <a:r>
              <a:rPr dirty="0" sz="1750" spc="-80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design,</a:t>
            </a:r>
            <a:r>
              <a:rPr dirty="0" sz="1750" spc="-80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exploratory</a:t>
            </a:r>
            <a:r>
              <a:rPr dirty="0" sz="1750" spc="-80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analysis,</a:t>
            </a:r>
            <a:r>
              <a:rPr dirty="0" sz="1750" spc="-8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and</a:t>
            </a:r>
            <a:r>
              <a:rPr dirty="0" sz="1750" spc="-80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an</a:t>
            </a:r>
            <a:r>
              <a:rPr dirty="0" sz="1750" spc="-80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interactive</a:t>
            </a:r>
            <a:r>
              <a:rPr dirty="0" sz="1750" spc="-80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Power</a:t>
            </a:r>
            <a:r>
              <a:rPr dirty="0" sz="1750" spc="-80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 spc="-25">
                <a:solidFill>
                  <a:srgbClr val="4B4A4A"/>
                </a:solidFill>
                <a:latin typeface="Arial"/>
                <a:cs typeface="Arial"/>
              </a:rPr>
              <a:t>BI </a:t>
            </a:r>
            <a:r>
              <a:rPr dirty="0" sz="1750" spc="-10">
                <a:solidFill>
                  <a:srgbClr val="4B4A4A"/>
                </a:solidFill>
                <a:latin typeface="Arial"/>
                <a:cs typeface="Arial"/>
              </a:rPr>
              <a:t>dashboard</a:t>
            </a:r>
            <a:r>
              <a:rPr dirty="0" sz="1750" spc="-6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to</a:t>
            </a:r>
            <a:r>
              <a:rPr dirty="0" sz="1750" spc="-6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surface</a:t>
            </a:r>
            <a:r>
              <a:rPr dirty="0" sz="1750" spc="-6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actionable</a:t>
            </a:r>
            <a:r>
              <a:rPr dirty="0" sz="1750" spc="-6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business</a:t>
            </a:r>
            <a:r>
              <a:rPr dirty="0" sz="1750" spc="-60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4B4A4A"/>
                </a:solidFill>
                <a:latin typeface="Arial"/>
                <a:cs typeface="Arial"/>
              </a:rPr>
              <a:t>insights.</a:t>
            </a:r>
            <a:endParaRPr sz="1750">
              <a:latin typeface="Arial"/>
              <a:cs typeface="Arial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793789" y="5182666"/>
            <a:ext cx="1543050" cy="426720"/>
            <a:chOff x="793789" y="5182666"/>
            <a:chExt cx="1543050" cy="426720"/>
          </a:xfrm>
        </p:grpSpPr>
        <p:sp>
          <p:nvSpPr>
            <p:cNvPr id="6" name="object 6" descr=""/>
            <p:cNvSpPr/>
            <p:nvPr/>
          </p:nvSpPr>
          <p:spPr>
            <a:xfrm>
              <a:off x="793789" y="5182666"/>
              <a:ext cx="1543050" cy="426720"/>
            </a:xfrm>
            <a:custGeom>
              <a:avLst/>
              <a:gdLst/>
              <a:ahLst/>
              <a:cxnLst/>
              <a:rect l="l" t="t" r="r" b="b"/>
              <a:pathLst>
                <a:path w="1543050" h="426720">
                  <a:moveTo>
                    <a:pt x="1379740" y="0"/>
                  </a:moveTo>
                  <a:lnTo>
                    <a:pt x="163315" y="0"/>
                  </a:lnTo>
                  <a:lnTo>
                    <a:pt x="120109" y="5875"/>
                  </a:lnTo>
                  <a:lnTo>
                    <a:pt x="81155" y="22431"/>
                  </a:lnTo>
                  <a:lnTo>
                    <a:pt x="48060" y="48059"/>
                  </a:lnTo>
                  <a:lnTo>
                    <a:pt x="22431" y="81153"/>
                  </a:lnTo>
                  <a:lnTo>
                    <a:pt x="5875" y="120106"/>
                  </a:lnTo>
                  <a:lnTo>
                    <a:pt x="0" y="163309"/>
                  </a:lnTo>
                  <a:lnTo>
                    <a:pt x="0" y="262928"/>
                  </a:lnTo>
                  <a:lnTo>
                    <a:pt x="5875" y="306136"/>
                  </a:lnTo>
                  <a:lnTo>
                    <a:pt x="22431" y="345092"/>
                  </a:lnTo>
                  <a:lnTo>
                    <a:pt x="48060" y="378188"/>
                  </a:lnTo>
                  <a:lnTo>
                    <a:pt x="81155" y="403818"/>
                  </a:lnTo>
                  <a:lnTo>
                    <a:pt x="120109" y="420374"/>
                  </a:lnTo>
                  <a:lnTo>
                    <a:pt x="163315" y="426250"/>
                  </a:lnTo>
                  <a:lnTo>
                    <a:pt x="1379740" y="426250"/>
                  </a:lnTo>
                  <a:lnTo>
                    <a:pt x="1422943" y="420374"/>
                  </a:lnTo>
                  <a:lnTo>
                    <a:pt x="1461896" y="403818"/>
                  </a:lnTo>
                  <a:lnTo>
                    <a:pt x="1494990" y="378188"/>
                  </a:lnTo>
                  <a:lnTo>
                    <a:pt x="1520618" y="345092"/>
                  </a:lnTo>
                  <a:lnTo>
                    <a:pt x="1537174" y="306136"/>
                  </a:lnTo>
                  <a:lnTo>
                    <a:pt x="1543050" y="262928"/>
                  </a:lnTo>
                  <a:lnTo>
                    <a:pt x="1543050" y="163309"/>
                  </a:lnTo>
                  <a:lnTo>
                    <a:pt x="1537174" y="120106"/>
                  </a:lnTo>
                  <a:lnTo>
                    <a:pt x="1520618" y="81153"/>
                  </a:lnTo>
                  <a:lnTo>
                    <a:pt x="1494990" y="48059"/>
                  </a:lnTo>
                  <a:lnTo>
                    <a:pt x="1461896" y="22431"/>
                  </a:lnTo>
                  <a:lnTo>
                    <a:pt x="1422943" y="5875"/>
                  </a:lnTo>
                  <a:lnTo>
                    <a:pt x="1379740" y="0"/>
                  </a:lnTo>
                  <a:close/>
                </a:path>
              </a:pathLst>
            </a:custGeom>
            <a:solidFill>
              <a:srgbClr val="CCFFE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9877" y="5305069"/>
              <a:ext cx="181451" cy="181457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/>
          <p:nvPr/>
        </p:nvSpPr>
        <p:spPr>
          <a:xfrm>
            <a:off x="1189355" y="5306580"/>
            <a:ext cx="105283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4B4A4A"/>
                </a:solidFill>
                <a:latin typeface="Arial"/>
                <a:cs typeface="Arial"/>
              </a:rPr>
              <a:t>CHETHAN</a:t>
            </a:r>
            <a:r>
              <a:rPr dirty="0" sz="1400" spc="-7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400" spc="-50">
                <a:solidFill>
                  <a:srgbClr val="4B4A4A"/>
                </a:solidFill>
                <a:latin typeface="Arial"/>
                <a:cs typeface="Arial"/>
              </a:rPr>
              <a:t>S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2450185" y="5175046"/>
            <a:ext cx="1767205" cy="441959"/>
          </a:xfrm>
          <a:custGeom>
            <a:avLst/>
            <a:gdLst/>
            <a:ahLst/>
            <a:cxnLst/>
            <a:rect l="l" t="t" r="r" b="b"/>
            <a:pathLst>
              <a:path w="1767204" h="441960">
                <a:moveTo>
                  <a:pt x="0" y="163322"/>
                </a:moveTo>
                <a:lnTo>
                  <a:pt x="5875" y="120113"/>
                </a:lnTo>
                <a:lnTo>
                  <a:pt x="22432" y="81157"/>
                </a:lnTo>
                <a:lnTo>
                  <a:pt x="48061" y="48061"/>
                </a:lnTo>
                <a:lnTo>
                  <a:pt x="81156" y="22431"/>
                </a:lnTo>
                <a:lnTo>
                  <a:pt x="120111" y="5875"/>
                </a:lnTo>
                <a:lnTo>
                  <a:pt x="163318" y="0"/>
                </a:lnTo>
                <a:lnTo>
                  <a:pt x="1603806" y="0"/>
                </a:lnTo>
                <a:lnTo>
                  <a:pt x="1647015" y="5875"/>
                </a:lnTo>
                <a:lnTo>
                  <a:pt x="1685971" y="22431"/>
                </a:lnTo>
                <a:lnTo>
                  <a:pt x="1719067" y="48061"/>
                </a:lnTo>
                <a:lnTo>
                  <a:pt x="1744696" y="81157"/>
                </a:lnTo>
                <a:lnTo>
                  <a:pt x="1761252" y="120113"/>
                </a:lnTo>
                <a:lnTo>
                  <a:pt x="1767128" y="163322"/>
                </a:lnTo>
                <a:lnTo>
                  <a:pt x="1767128" y="278168"/>
                </a:lnTo>
                <a:lnTo>
                  <a:pt x="1761252" y="321372"/>
                </a:lnTo>
                <a:lnTo>
                  <a:pt x="1744696" y="360326"/>
                </a:lnTo>
                <a:lnTo>
                  <a:pt x="1719067" y="393423"/>
                </a:lnTo>
                <a:lnTo>
                  <a:pt x="1685971" y="419055"/>
                </a:lnTo>
                <a:lnTo>
                  <a:pt x="1647015" y="435613"/>
                </a:lnTo>
                <a:lnTo>
                  <a:pt x="1603806" y="441490"/>
                </a:lnTo>
                <a:lnTo>
                  <a:pt x="163318" y="441490"/>
                </a:lnTo>
                <a:lnTo>
                  <a:pt x="120111" y="435613"/>
                </a:lnTo>
                <a:lnTo>
                  <a:pt x="81156" y="419055"/>
                </a:lnTo>
                <a:lnTo>
                  <a:pt x="48061" y="393423"/>
                </a:lnTo>
                <a:lnTo>
                  <a:pt x="22432" y="360326"/>
                </a:lnTo>
                <a:lnTo>
                  <a:pt x="5875" y="321372"/>
                </a:lnTo>
                <a:lnTo>
                  <a:pt x="0" y="278168"/>
                </a:lnTo>
                <a:lnTo>
                  <a:pt x="0" y="163322"/>
                </a:lnTo>
                <a:close/>
              </a:path>
            </a:pathLst>
          </a:custGeom>
          <a:ln w="7619">
            <a:solidFill>
              <a:srgbClr val="00664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2581198" y="5306580"/>
            <a:ext cx="157670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006646"/>
                </a:solidFill>
                <a:latin typeface="Arial"/>
                <a:cs typeface="Arial"/>
              </a:rPr>
              <a:t>B.E.</a:t>
            </a:r>
            <a:r>
              <a:rPr dirty="0" sz="1400" spc="-20">
                <a:solidFill>
                  <a:srgbClr val="0066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6646"/>
                </a:solidFill>
                <a:latin typeface="Arial"/>
                <a:cs typeface="Arial"/>
              </a:rPr>
              <a:t>CSE</a:t>
            </a:r>
            <a:r>
              <a:rPr dirty="0" sz="1400" spc="-15">
                <a:solidFill>
                  <a:srgbClr val="0066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6646"/>
                </a:solidFill>
                <a:latin typeface="Arial"/>
                <a:cs typeface="Arial"/>
              </a:rPr>
              <a:t>(AI</a:t>
            </a:r>
            <a:r>
              <a:rPr dirty="0" sz="1400" spc="-20">
                <a:solidFill>
                  <a:srgbClr val="0066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6646"/>
                </a:solidFill>
                <a:latin typeface="Arial"/>
                <a:cs typeface="Arial"/>
              </a:rPr>
              <a:t>&amp;</a:t>
            </a:r>
            <a:r>
              <a:rPr dirty="0" sz="1400" spc="-15">
                <a:solidFill>
                  <a:srgbClr val="006646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006646"/>
                </a:solidFill>
                <a:latin typeface="Arial"/>
                <a:cs typeface="Arial"/>
              </a:rPr>
              <a:t>ML)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781089" y="5853798"/>
            <a:ext cx="438213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006646"/>
                </a:solidFill>
                <a:latin typeface="Arial"/>
                <a:cs typeface="Arial"/>
              </a:rPr>
              <a:t>TOOLS:</a:t>
            </a:r>
            <a:r>
              <a:rPr dirty="0" sz="1400" spc="-50">
                <a:solidFill>
                  <a:srgbClr val="0066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6646"/>
                </a:solidFill>
                <a:latin typeface="Arial"/>
                <a:cs typeface="Arial"/>
              </a:rPr>
              <a:t>PYTHON</a:t>
            </a:r>
            <a:r>
              <a:rPr dirty="0" sz="1400" spc="-50">
                <a:solidFill>
                  <a:srgbClr val="0066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6646"/>
                </a:solidFill>
                <a:latin typeface="Arial"/>
                <a:cs typeface="Arial"/>
              </a:rPr>
              <a:t>·</a:t>
            </a:r>
            <a:r>
              <a:rPr dirty="0" sz="1400" spc="-45">
                <a:solidFill>
                  <a:srgbClr val="0066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6646"/>
                </a:solidFill>
                <a:latin typeface="Arial"/>
                <a:cs typeface="Arial"/>
              </a:rPr>
              <a:t>SQL</a:t>
            </a:r>
            <a:r>
              <a:rPr dirty="0" sz="1400" spc="-50">
                <a:solidFill>
                  <a:srgbClr val="0066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6646"/>
                </a:solidFill>
                <a:latin typeface="Arial"/>
                <a:cs typeface="Arial"/>
              </a:rPr>
              <a:t>·</a:t>
            </a:r>
            <a:r>
              <a:rPr dirty="0" sz="1400" spc="-45">
                <a:solidFill>
                  <a:srgbClr val="0066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6646"/>
                </a:solidFill>
                <a:latin typeface="Arial"/>
                <a:cs typeface="Arial"/>
              </a:rPr>
              <a:t>POSTGRESQL</a:t>
            </a:r>
            <a:r>
              <a:rPr dirty="0" sz="1400" spc="-50">
                <a:solidFill>
                  <a:srgbClr val="0066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6646"/>
                </a:solidFill>
                <a:latin typeface="Arial"/>
                <a:cs typeface="Arial"/>
              </a:rPr>
              <a:t>·</a:t>
            </a:r>
            <a:r>
              <a:rPr dirty="0" sz="1400" spc="-45">
                <a:solidFill>
                  <a:srgbClr val="0066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6646"/>
                </a:solidFill>
                <a:latin typeface="Arial"/>
                <a:cs typeface="Arial"/>
              </a:rPr>
              <a:t>POWER</a:t>
            </a:r>
            <a:r>
              <a:rPr dirty="0" sz="1400" spc="-50">
                <a:solidFill>
                  <a:srgbClr val="006646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006646"/>
                </a:solidFill>
                <a:latin typeface="Arial"/>
                <a:cs typeface="Arial"/>
              </a:rPr>
              <a:t>BI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39192" y="7749540"/>
            <a:ext cx="1722602" cy="41147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4630400" cy="297691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81089" y="3693782"/>
            <a:ext cx="3681729" cy="5664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Project</a:t>
            </a:r>
            <a:r>
              <a:rPr dirty="0" spc="-70"/>
              <a:t> </a:t>
            </a:r>
            <a:r>
              <a:rPr dirty="0" spc="-10"/>
              <a:t>Overview</a:t>
            </a:r>
          </a:p>
        </p:txBody>
      </p:sp>
      <p:grpSp>
        <p:nvGrpSpPr>
          <p:cNvPr id="5" name="object 5" descr=""/>
          <p:cNvGrpSpPr/>
          <p:nvPr/>
        </p:nvGrpSpPr>
        <p:grpSpPr>
          <a:xfrm>
            <a:off x="789979" y="4595215"/>
            <a:ext cx="4204335" cy="2781935"/>
            <a:chOff x="789979" y="4595215"/>
            <a:chExt cx="4204335" cy="2781935"/>
          </a:xfrm>
        </p:grpSpPr>
        <p:sp>
          <p:nvSpPr>
            <p:cNvPr id="6" name="object 6" descr=""/>
            <p:cNvSpPr/>
            <p:nvPr/>
          </p:nvSpPr>
          <p:spPr>
            <a:xfrm>
              <a:off x="793789" y="4599025"/>
              <a:ext cx="4196715" cy="2774315"/>
            </a:xfrm>
            <a:custGeom>
              <a:avLst/>
              <a:gdLst/>
              <a:ahLst/>
              <a:cxnLst/>
              <a:rect l="l" t="t" r="r" b="b"/>
              <a:pathLst>
                <a:path w="4196715" h="2774315">
                  <a:moveTo>
                    <a:pt x="3992206" y="0"/>
                  </a:moveTo>
                  <a:lnTo>
                    <a:pt x="204151" y="0"/>
                  </a:lnTo>
                  <a:lnTo>
                    <a:pt x="157579" y="5431"/>
                  </a:lnTo>
                  <a:lnTo>
                    <a:pt x="114701" y="20881"/>
                  </a:lnTo>
                  <a:lnTo>
                    <a:pt x="76782" y="45085"/>
                  </a:lnTo>
                  <a:lnTo>
                    <a:pt x="45087" y="76779"/>
                  </a:lnTo>
                  <a:lnTo>
                    <a:pt x="20882" y="114698"/>
                  </a:lnTo>
                  <a:lnTo>
                    <a:pt x="5431" y="157578"/>
                  </a:lnTo>
                  <a:lnTo>
                    <a:pt x="0" y="204152"/>
                  </a:lnTo>
                  <a:lnTo>
                    <a:pt x="0" y="2569641"/>
                  </a:lnTo>
                  <a:lnTo>
                    <a:pt x="5431" y="2616216"/>
                  </a:lnTo>
                  <a:lnTo>
                    <a:pt x="20882" y="2659095"/>
                  </a:lnTo>
                  <a:lnTo>
                    <a:pt x="45087" y="2697014"/>
                  </a:lnTo>
                  <a:lnTo>
                    <a:pt x="76782" y="2728708"/>
                  </a:lnTo>
                  <a:lnTo>
                    <a:pt x="114701" y="2752912"/>
                  </a:lnTo>
                  <a:lnTo>
                    <a:pt x="157579" y="2768363"/>
                  </a:lnTo>
                  <a:lnTo>
                    <a:pt x="204151" y="2773794"/>
                  </a:lnTo>
                  <a:lnTo>
                    <a:pt x="3992206" y="2773794"/>
                  </a:lnTo>
                  <a:lnTo>
                    <a:pt x="4038777" y="2768363"/>
                  </a:lnTo>
                  <a:lnTo>
                    <a:pt x="4081654" y="2752912"/>
                  </a:lnTo>
                  <a:lnTo>
                    <a:pt x="4119574" y="2728708"/>
                  </a:lnTo>
                  <a:lnTo>
                    <a:pt x="4151269" y="2697014"/>
                  </a:lnTo>
                  <a:lnTo>
                    <a:pt x="4175475" y="2659095"/>
                  </a:lnTo>
                  <a:lnTo>
                    <a:pt x="4190927" y="2616216"/>
                  </a:lnTo>
                  <a:lnTo>
                    <a:pt x="4196359" y="2569641"/>
                  </a:lnTo>
                  <a:lnTo>
                    <a:pt x="4196359" y="204152"/>
                  </a:lnTo>
                  <a:lnTo>
                    <a:pt x="4190927" y="157578"/>
                  </a:lnTo>
                  <a:lnTo>
                    <a:pt x="4175475" y="114698"/>
                  </a:lnTo>
                  <a:lnTo>
                    <a:pt x="4151269" y="76779"/>
                  </a:lnTo>
                  <a:lnTo>
                    <a:pt x="4119574" y="45085"/>
                  </a:lnTo>
                  <a:lnTo>
                    <a:pt x="4081654" y="20881"/>
                  </a:lnTo>
                  <a:lnTo>
                    <a:pt x="4038777" y="5431"/>
                  </a:lnTo>
                  <a:lnTo>
                    <a:pt x="3992206" y="0"/>
                  </a:lnTo>
                  <a:close/>
                </a:path>
              </a:pathLst>
            </a:custGeom>
            <a:solidFill>
              <a:srgbClr val="D1EE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793789" y="4599025"/>
              <a:ext cx="4196715" cy="2774315"/>
            </a:xfrm>
            <a:custGeom>
              <a:avLst/>
              <a:gdLst/>
              <a:ahLst/>
              <a:cxnLst/>
              <a:rect l="l" t="t" r="r" b="b"/>
              <a:pathLst>
                <a:path w="4196715" h="2774315">
                  <a:moveTo>
                    <a:pt x="0" y="204152"/>
                  </a:moveTo>
                  <a:lnTo>
                    <a:pt x="5431" y="157578"/>
                  </a:lnTo>
                  <a:lnTo>
                    <a:pt x="20882" y="114698"/>
                  </a:lnTo>
                  <a:lnTo>
                    <a:pt x="45087" y="76779"/>
                  </a:lnTo>
                  <a:lnTo>
                    <a:pt x="76782" y="45085"/>
                  </a:lnTo>
                  <a:lnTo>
                    <a:pt x="114701" y="20881"/>
                  </a:lnTo>
                  <a:lnTo>
                    <a:pt x="157579" y="5431"/>
                  </a:lnTo>
                  <a:lnTo>
                    <a:pt x="204151" y="0"/>
                  </a:lnTo>
                  <a:lnTo>
                    <a:pt x="3992206" y="0"/>
                  </a:lnTo>
                  <a:lnTo>
                    <a:pt x="4038777" y="5431"/>
                  </a:lnTo>
                  <a:lnTo>
                    <a:pt x="4081654" y="20881"/>
                  </a:lnTo>
                  <a:lnTo>
                    <a:pt x="4119574" y="45085"/>
                  </a:lnTo>
                  <a:lnTo>
                    <a:pt x="4151269" y="76779"/>
                  </a:lnTo>
                  <a:lnTo>
                    <a:pt x="4175475" y="114698"/>
                  </a:lnTo>
                  <a:lnTo>
                    <a:pt x="4190927" y="157578"/>
                  </a:lnTo>
                  <a:lnTo>
                    <a:pt x="4196359" y="204152"/>
                  </a:lnTo>
                  <a:lnTo>
                    <a:pt x="4196359" y="2569641"/>
                  </a:lnTo>
                  <a:lnTo>
                    <a:pt x="4190927" y="2616216"/>
                  </a:lnTo>
                  <a:lnTo>
                    <a:pt x="4175475" y="2659095"/>
                  </a:lnTo>
                  <a:lnTo>
                    <a:pt x="4151269" y="2697014"/>
                  </a:lnTo>
                  <a:lnTo>
                    <a:pt x="4119574" y="2728708"/>
                  </a:lnTo>
                  <a:lnTo>
                    <a:pt x="4081654" y="2752912"/>
                  </a:lnTo>
                  <a:lnTo>
                    <a:pt x="4038777" y="2768363"/>
                  </a:lnTo>
                  <a:lnTo>
                    <a:pt x="3992206" y="2773794"/>
                  </a:lnTo>
                  <a:lnTo>
                    <a:pt x="204151" y="2773794"/>
                  </a:lnTo>
                  <a:lnTo>
                    <a:pt x="157579" y="2768363"/>
                  </a:lnTo>
                  <a:lnTo>
                    <a:pt x="114701" y="2752912"/>
                  </a:lnTo>
                  <a:lnTo>
                    <a:pt x="76782" y="2728708"/>
                  </a:lnTo>
                  <a:lnTo>
                    <a:pt x="45087" y="2697014"/>
                  </a:lnTo>
                  <a:lnTo>
                    <a:pt x="20882" y="2659095"/>
                  </a:lnTo>
                  <a:lnTo>
                    <a:pt x="5431" y="2616216"/>
                  </a:lnTo>
                  <a:lnTo>
                    <a:pt x="0" y="2569641"/>
                  </a:lnTo>
                  <a:lnTo>
                    <a:pt x="0" y="204152"/>
                  </a:lnTo>
                  <a:close/>
                </a:path>
              </a:pathLst>
            </a:custGeom>
            <a:ln w="7619">
              <a:solidFill>
                <a:srgbClr val="B7D4C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1015523" y="4828819"/>
            <a:ext cx="3582035" cy="1951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10" b="1">
                <a:solidFill>
                  <a:srgbClr val="4B4A4A"/>
                </a:solidFill>
                <a:latin typeface="Arial"/>
                <a:cs typeface="Arial"/>
              </a:rPr>
              <a:t>Objective</a:t>
            </a:r>
            <a:endParaRPr sz="2200">
              <a:latin typeface="Arial"/>
              <a:cs typeface="Arial"/>
            </a:endParaRPr>
          </a:p>
          <a:p>
            <a:pPr marL="12700" marR="5080">
              <a:lnSpc>
                <a:spcPct val="135700"/>
              </a:lnSpc>
              <a:spcBef>
                <a:spcPts val="1120"/>
              </a:spcBef>
            </a:pP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Extract</a:t>
            </a:r>
            <a:r>
              <a:rPr dirty="0" sz="1750" spc="-8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actionable</a:t>
            </a:r>
            <a:r>
              <a:rPr dirty="0" sz="1750" spc="-8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business</a:t>
            </a:r>
            <a:r>
              <a:rPr dirty="0" sz="1750" spc="-8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4B4A4A"/>
                </a:solidFill>
                <a:latin typeface="Arial"/>
                <a:cs typeface="Arial"/>
              </a:rPr>
              <a:t>insights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from</a:t>
            </a:r>
            <a:r>
              <a:rPr dirty="0" sz="1750" spc="-6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raw</a:t>
            </a:r>
            <a:r>
              <a:rPr dirty="0" sz="1750" spc="-60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customer</a:t>
            </a:r>
            <a:r>
              <a:rPr dirty="0" sz="1750" spc="-6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purchase</a:t>
            </a:r>
            <a:r>
              <a:rPr dirty="0" sz="1750" spc="-60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data</a:t>
            </a:r>
            <a:r>
              <a:rPr dirty="0" sz="1750" spc="-6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 spc="-25">
                <a:solidFill>
                  <a:srgbClr val="4B4A4A"/>
                </a:solidFill>
                <a:latin typeface="Arial"/>
                <a:cs typeface="Arial"/>
              </a:rPr>
              <a:t>to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improve</a:t>
            </a:r>
            <a:r>
              <a:rPr dirty="0" sz="1750" spc="-90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product</a:t>
            </a:r>
            <a:r>
              <a:rPr dirty="0" sz="1750" spc="-8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strategy</a:t>
            </a:r>
            <a:r>
              <a:rPr dirty="0" sz="1750" spc="-8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 spc="-25">
                <a:solidFill>
                  <a:srgbClr val="4B4A4A"/>
                </a:solidFill>
                <a:latin typeface="Arial"/>
                <a:cs typeface="Arial"/>
              </a:rPr>
              <a:t>and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marketing</a:t>
            </a:r>
            <a:r>
              <a:rPr dirty="0" sz="1750" spc="-114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4B4A4A"/>
                </a:solidFill>
                <a:latin typeface="Arial"/>
                <a:cs typeface="Arial"/>
              </a:rPr>
              <a:t>effectiveness.</a:t>
            </a:r>
            <a:endParaRPr sz="1750">
              <a:latin typeface="Arial"/>
              <a:cs typeface="Arial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5213146" y="4595215"/>
            <a:ext cx="4204335" cy="2781935"/>
            <a:chOff x="5213146" y="4595215"/>
            <a:chExt cx="4204335" cy="2781935"/>
          </a:xfrm>
        </p:grpSpPr>
        <p:sp>
          <p:nvSpPr>
            <p:cNvPr id="10" name="object 10" descr=""/>
            <p:cNvSpPr/>
            <p:nvPr/>
          </p:nvSpPr>
          <p:spPr>
            <a:xfrm>
              <a:off x="5216956" y="4599025"/>
              <a:ext cx="4196715" cy="2774315"/>
            </a:xfrm>
            <a:custGeom>
              <a:avLst/>
              <a:gdLst/>
              <a:ahLst/>
              <a:cxnLst/>
              <a:rect l="l" t="t" r="r" b="b"/>
              <a:pathLst>
                <a:path w="4196715" h="2774315">
                  <a:moveTo>
                    <a:pt x="3992206" y="0"/>
                  </a:moveTo>
                  <a:lnTo>
                    <a:pt x="204151" y="0"/>
                  </a:lnTo>
                  <a:lnTo>
                    <a:pt x="157579" y="5431"/>
                  </a:lnTo>
                  <a:lnTo>
                    <a:pt x="114701" y="20881"/>
                  </a:lnTo>
                  <a:lnTo>
                    <a:pt x="76782" y="45085"/>
                  </a:lnTo>
                  <a:lnTo>
                    <a:pt x="45087" y="76779"/>
                  </a:lnTo>
                  <a:lnTo>
                    <a:pt x="20882" y="114698"/>
                  </a:lnTo>
                  <a:lnTo>
                    <a:pt x="5431" y="157578"/>
                  </a:lnTo>
                  <a:lnTo>
                    <a:pt x="0" y="204152"/>
                  </a:lnTo>
                  <a:lnTo>
                    <a:pt x="0" y="2569641"/>
                  </a:lnTo>
                  <a:lnTo>
                    <a:pt x="5431" y="2616216"/>
                  </a:lnTo>
                  <a:lnTo>
                    <a:pt x="20882" y="2659095"/>
                  </a:lnTo>
                  <a:lnTo>
                    <a:pt x="45087" y="2697014"/>
                  </a:lnTo>
                  <a:lnTo>
                    <a:pt x="76782" y="2728708"/>
                  </a:lnTo>
                  <a:lnTo>
                    <a:pt x="114701" y="2752912"/>
                  </a:lnTo>
                  <a:lnTo>
                    <a:pt x="157579" y="2768363"/>
                  </a:lnTo>
                  <a:lnTo>
                    <a:pt x="204151" y="2773794"/>
                  </a:lnTo>
                  <a:lnTo>
                    <a:pt x="3992206" y="2773794"/>
                  </a:lnTo>
                  <a:lnTo>
                    <a:pt x="4038777" y="2768363"/>
                  </a:lnTo>
                  <a:lnTo>
                    <a:pt x="4081654" y="2752912"/>
                  </a:lnTo>
                  <a:lnTo>
                    <a:pt x="4119574" y="2728708"/>
                  </a:lnTo>
                  <a:lnTo>
                    <a:pt x="4151269" y="2697014"/>
                  </a:lnTo>
                  <a:lnTo>
                    <a:pt x="4175475" y="2659095"/>
                  </a:lnTo>
                  <a:lnTo>
                    <a:pt x="4190927" y="2616216"/>
                  </a:lnTo>
                  <a:lnTo>
                    <a:pt x="4196359" y="2569641"/>
                  </a:lnTo>
                  <a:lnTo>
                    <a:pt x="4196359" y="204152"/>
                  </a:lnTo>
                  <a:lnTo>
                    <a:pt x="4190927" y="157578"/>
                  </a:lnTo>
                  <a:lnTo>
                    <a:pt x="4175475" y="114698"/>
                  </a:lnTo>
                  <a:lnTo>
                    <a:pt x="4151269" y="76779"/>
                  </a:lnTo>
                  <a:lnTo>
                    <a:pt x="4119574" y="45085"/>
                  </a:lnTo>
                  <a:lnTo>
                    <a:pt x="4081654" y="20881"/>
                  </a:lnTo>
                  <a:lnTo>
                    <a:pt x="4038777" y="5431"/>
                  </a:lnTo>
                  <a:lnTo>
                    <a:pt x="3992206" y="0"/>
                  </a:lnTo>
                  <a:close/>
                </a:path>
              </a:pathLst>
            </a:custGeom>
            <a:solidFill>
              <a:srgbClr val="D1EE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5216956" y="4599025"/>
              <a:ext cx="4196715" cy="2774315"/>
            </a:xfrm>
            <a:custGeom>
              <a:avLst/>
              <a:gdLst/>
              <a:ahLst/>
              <a:cxnLst/>
              <a:rect l="l" t="t" r="r" b="b"/>
              <a:pathLst>
                <a:path w="4196715" h="2774315">
                  <a:moveTo>
                    <a:pt x="0" y="204152"/>
                  </a:moveTo>
                  <a:lnTo>
                    <a:pt x="5431" y="157578"/>
                  </a:lnTo>
                  <a:lnTo>
                    <a:pt x="20882" y="114698"/>
                  </a:lnTo>
                  <a:lnTo>
                    <a:pt x="45087" y="76779"/>
                  </a:lnTo>
                  <a:lnTo>
                    <a:pt x="76782" y="45085"/>
                  </a:lnTo>
                  <a:lnTo>
                    <a:pt x="114701" y="20881"/>
                  </a:lnTo>
                  <a:lnTo>
                    <a:pt x="157579" y="5431"/>
                  </a:lnTo>
                  <a:lnTo>
                    <a:pt x="204151" y="0"/>
                  </a:lnTo>
                  <a:lnTo>
                    <a:pt x="3992206" y="0"/>
                  </a:lnTo>
                  <a:lnTo>
                    <a:pt x="4038777" y="5431"/>
                  </a:lnTo>
                  <a:lnTo>
                    <a:pt x="4081654" y="20881"/>
                  </a:lnTo>
                  <a:lnTo>
                    <a:pt x="4119574" y="45085"/>
                  </a:lnTo>
                  <a:lnTo>
                    <a:pt x="4151269" y="76779"/>
                  </a:lnTo>
                  <a:lnTo>
                    <a:pt x="4175475" y="114698"/>
                  </a:lnTo>
                  <a:lnTo>
                    <a:pt x="4190927" y="157578"/>
                  </a:lnTo>
                  <a:lnTo>
                    <a:pt x="4196359" y="204152"/>
                  </a:lnTo>
                  <a:lnTo>
                    <a:pt x="4196359" y="2569641"/>
                  </a:lnTo>
                  <a:lnTo>
                    <a:pt x="4190927" y="2616216"/>
                  </a:lnTo>
                  <a:lnTo>
                    <a:pt x="4175475" y="2659095"/>
                  </a:lnTo>
                  <a:lnTo>
                    <a:pt x="4151269" y="2697014"/>
                  </a:lnTo>
                  <a:lnTo>
                    <a:pt x="4119574" y="2728708"/>
                  </a:lnTo>
                  <a:lnTo>
                    <a:pt x="4081654" y="2752912"/>
                  </a:lnTo>
                  <a:lnTo>
                    <a:pt x="4038777" y="2768363"/>
                  </a:lnTo>
                  <a:lnTo>
                    <a:pt x="3992206" y="2773794"/>
                  </a:lnTo>
                  <a:lnTo>
                    <a:pt x="204151" y="2773794"/>
                  </a:lnTo>
                  <a:lnTo>
                    <a:pt x="157579" y="2768363"/>
                  </a:lnTo>
                  <a:lnTo>
                    <a:pt x="114701" y="2752912"/>
                  </a:lnTo>
                  <a:lnTo>
                    <a:pt x="76782" y="2728708"/>
                  </a:lnTo>
                  <a:lnTo>
                    <a:pt x="45087" y="2697014"/>
                  </a:lnTo>
                  <a:lnTo>
                    <a:pt x="20882" y="2659095"/>
                  </a:lnTo>
                  <a:lnTo>
                    <a:pt x="5431" y="2616216"/>
                  </a:lnTo>
                  <a:lnTo>
                    <a:pt x="0" y="2569641"/>
                  </a:lnTo>
                  <a:lnTo>
                    <a:pt x="0" y="204152"/>
                  </a:lnTo>
                  <a:close/>
                </a:path>
              </a:pathLst>
            </a:custGeom>
            <a:ln w="7619">
              <a:solidFill>
                <a:srgbClr val="B7D4C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5438698" y="4828819"/>
            <a:ext cx="3456304" cy="1951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10" b="1">
                <a:solidFill>
                  <a:srgbClr val="4B4A4A"/>
                </a:solidFill>
                <a:latin typeface="Arial"/>
                <a:cs typeface="Arial"/>
              </a:rPr>
              <a:t>Scope</a:t>
            </a:r>
            <a:endParaRPr sz="2200">
              <a:latin typeface="Arial"/>
              <a:cs typeface="Arial"/>
            </a:endParaRPr>
          </a:p>
          <a:p>
            <a:pPr marL="12700" marR="5080">
              <a:lnSpc>
                <a:spcPct val="135700"/>
              </a:lnSpc>
              <a:spcBef>
                <a:spcPts val="1120"/>
              </a:spcBef>
            </a:pPr>
            <a:r>
              <a:rPr dirty="0" sz="1750" spc="-20">
                <a:solidFill>
                  <a:srgbClr val="4B4A4A"/>
                </a:solidFill>
                <a:latin typeface="Arial"/>
                <a:cs typeface="Arial"/>
              </a:rPr>
              <a:t>End-to-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end</a:t>
            </a:r>
            <a:r>
              <a:rPr dirty="0" sz="1750" spc="-40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pipeline:</a:t>
            </a:r>
            <a:r>
              <a:rPr dirty="0" sz="1750" spc="-40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data</a:t>
            </a:r>
            <a:r>
              <a:rPr dirty="0" sz="1750" spc="-40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4B4A4A"/>
                </a:solidFill>
                <a:latin typeface="Arial"/>
                <a:cs typeface="Arial"/>
              </a:rPr>
              <a:t>cleaning,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database</a:t>
            </a:r>
            <a:r>
              <a:rPr dirty="0" sz="1750" spc="-8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ingestion,</a:t>
            </a:r>
            <a:r>
              <a:rPr dirty="0" sz="1750" spc="-80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SQL</a:t>
            </a:r>
            <a:r>
              <a:rPr dirty="0" sz="1750" spc="-80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4B4A4A"/>
                </a:solidFill>
                <a:latin typeface="Arial"/>
                <a:cs typeface="Arial"/>
              </a:rPr>
              <a:t>analysis,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EDA,</a:t>
            </a:r>
            <a:r>
              <a:rPr dirty="0" sz="1750" spc="-50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and</a:t>
            </a:r>
            <a:r>
              <a:rPr dirty="0" sz="1750" spc="-4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an</a:t>
            </a:r>
            <a:r>
              <a:rPr dirty="0" sz="1750" spc="-4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interactive</a:t>
            </a:r>
            <a:r>
              <a:rPr dirty="0" sz="1750" spc="-50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Power</a:t>
            </a:r>
            <a:r>
              <a:rPr dirty="0" sz="1750" spc="-4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 spc="-25">
                <a:solidFill>
                  <a:srgbClr val="4B4A4A"/>
                </a:solidFill>
                <a:latin typeface="Arial"/>
                <a:cs typeface="Arial"/>
              </a:rPr>
              <a:t>BI </a:t>
            </a:r>
            <a:r>
              <a:rPr dirty="0" sz="1750" spc="-10">
                <a:solidFill>
                  <a:srgbClr val="4B4A4A"/>
                </a:solidFill>
                <a:latin typeface="Arial"/>
                <a:cs typeface="Arial"/>
              </a:rPr>
              <a:t>dashboard.</a:t>
            </a:r>
            <a:endParaRPr sz="1750">
              <a:latin typeface="Arial"/>
              <a:cs typeface="Arial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9636328" y="4595215"/>
            <a:ext cx="4204335" cy="2781935"/>
            <a:chOff x="9636328" y="4595215"/>
            <a:chExt cx="4204335" cy="2781935"/>
          </a:xfrm>
        </p:grpSpPr>
        <p:sp>
          <p:nvSpPr>
            <p:cNvPr id="14" name="object 14" descr=""/>
            <p:cNvSpPr/>
            <p:nvPr/>
          </p:nvSpPr>
          <p:spPr>
            <a:xfrm>
              <a:off x="9640137" y="4599025"/>
              <a:ext cx="4196715" cy="2774315"/>
            </a:xfrm>
            <a:custGeom>
              <a:avLst/>
              <a:gdLst/>
              <a:ahLst/>
              <a:cxnLst/>
              <a:rect l="l" t="t" r="r" b="b"/>
              <a:pathLst>
                <a:path w="4196715" h="2774315">
                  <a:moveTo>
                    <a:pt x="3992206" y="0"/>
                  </a:moveTo>
                  <a:lnTo>
                    <a:pt x="204151" y="0"/>
                  </a:lnTo>
                  <a:lnTo>
                    <a:pt x="157579" y="5431"/>
                  </a:lnTo>
                  <a:lnTo>
                    <a:pt x="114701" y="20881"/>
                  </a:lnTo>
                  <a:lnTo>
                    <a:pt x="76782" y="45085"/>
                  </a:lnTo>
                  <a:lnTo>
                    <a:pt x="45087" y="76779"/>
                  </a:lnTo>
                  <a:lnTo>
                    <a:pt x="20882" y="114698"/>
                  </a:lnTo>
                  <a:lnTo>
                    <a:pt x="5431" y="157578"/>
                  </a:lnTo>
                  <a:lnTo>
                    <a:pt x="0" y="204152"/>
                  </a:lnTo>
                  <a:lnTo>
                    <a:pt x="0" y="2569641"/>
                  </a:lnTo>
                  <a:lnTo>
                    <a:pt x="5431" y="2616216"/>
                  </a:lnTo>
                  <a:lnTo>
                    <a:pt x="20882" y="2659095"/>
                  </a:lnTo>
                  <a:lnTo>
                    <a:pt x="45087" y="2697014"/>
                  </a:lnTo>
                  <a:lnTo>
                    <a:pt x="76782" y="2728708"/>
                  </a:lnTo>
                  <a:lnTo>
                    <a:pt x="114701" y="2752912"/>
                  </a:lnTo>
                  <a:lnTo>
                    <a:pt x="157579" y="2768363"/>
                  </a:lnTo>
                  <a:lnTo>
                    <a:pt x="204151" y="2773794"/>
                  </a:lnTo>
                  <a:lnTo>
                    <a:pt x="3992206" y="2773794"/>
                  </a:lnTo>
                  <a:lnTo>
                    <a:pt x="4038777" y="2768363"/>
                  </a:lnTo>
                  <a:lnTo>
                    <a:pt x="4081654" y="2752912"/>
                  </a:lnTo>
                  <a:lnTo>
                    <a:pt x="4119574" y="2728708"/>
                  </a:lnTo>
                  <a:lnTo>
                    <a:pt x="4151269" y="2697014"/>
                  </a:lnTo>
                  <a:lnTo>
                    <a:pt x="4175475" y="2659095"/>
                  </a:lnTo>
                  <a:lnTo>
                    <a:pt x="4190927" y="2616216"/>
                  </a:lnTo>
                  <a:lnTo>
                    <a:pt x="4196359" y="2569641"/>
                  </a:lnTo>
                  <a:lnTo>
                    <a:pt x="4196359" y="204152"/>
                  </a:lnTo>
                  <a:lnTo>
                    <a:pt x="4190927" y="157578"/>
                  </a:lnTo>
                  <a:lnTo>
                    <a:pt x="4175475" y="114698"/>
                  </a:lnTo>
                  <a:lnTo>
                    <a:pt x="4151269" y="76779"/>
                  </a:lnTo>
                  <a:lnTo>
                    <a:pt x="4119574" y="45085"/>
                  </a:lnTo>
                  <a:lnTo>
                    <a:pt x="4081654" y="20881"/>
                  </a:lnTo>
                  <a:lnTo>
                    <a:pt x="4038777" y="5431"/>
                  </a:lnTo>
                  <a:lnTo>
                    <a:pt x="3992206" y="0"/>
                  </a:lnTo>
                  <a:close/>
                </a:path>
              </a:pathLst>
            </a:custGeom>
            <a:solidFill>
              <a:srgbClr val="D1EE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9640137" y="4599025"/>
              <a:ext cx="4196715" cy="2774315"/>
            </a:xfrm>
            <a:custGeom>
              <a:avLst/>
              <a:gdLst/>
              <a:ahLst/>
              <a:cxnLst/>
              <a:rect l="l" t="t" r="r" b="b"/>
              <a:pathLst>
                <a:path w="4196715" h="2774315">
                  <a:moveTo>
                    <a:pt x="0" y="204152"/>
                  </a:moveTo>
                  <a:lnTo>
                    <a:pt x="5431" y="157578"/>
                  </a:lnTo>
                  <a:lnTo>
                    <a:pt x="20882" y="114698"/>
                  </a:lnTo>
                  <a:lnTo>
                    <a:pt x="45087" y="76779"/>
                  </a:lnTo>
                  <a:lnTo>
                    <a:pt x="76782" y="45085"/>
                  </a:lnTo>
                  <a:lnTo>
                    <a:pt x="114701" y="20881"/>
                  </a:lnTo>
                  <a:lnTo>
                    <a:pt x="157579" y="5431"/>
                  </a:lnTo>
                  <a:lnTo>
                    <a:pt x="204151" y="0"/>
                  </a:lnTo>
                  <a:lnTo>
                    <a:pt x="3992206" y="0"/>
                  </a:lnTo>
                  <a:lnTo>
                    <a:pt x="4038777" y="5431"/>
                  </a:lnTo>
                  <a:lnTo>
                    <a:pt x="4081654" y="20881"/>
                  </a:lnTo>
                  <a:lnTo>
                    <a:pt x="4119574" y="45085"/>
                  </a:lnTo>
                  <a:lnTo>
                    <a:pt x="4151269" y="76779"/>
                  </a:lnTo>
                  <a:lnTo>
                    <a:pt x="4175475" y="114698"/>
                  </a:lnTo>
                  <a:lnTo>
                    <a:pt x="4190927" y="157578"/>
                  </a:lnTo>
                  <a:lnTo>
                    <a:pt x="4196359" y="204152"/>
                  </a:lnTo>
                  <a:lnTo>
                    <a:pt x="4196359" y="2569641"/>
                  </a:lnTo>
                  <a:lnTo>
                    <a:pt x="4190927" y="2616216"/>
                  </a:lnTo>
                  <a:lnTo>
                    <a:pt x="4175475" y="2659095"/>
                  </a:lnTo>
                  <a:lnTo>
                    <a:pt x="4151269" y="2697014"/>
                  </a:lnTo>
                  <a:lnTo>
                    <a:pt x="4119574" y="2728708"/>
                  </a:lnTo>
                  <a:lnTo>
                    <a:pt x="4081654" y="2752912"/>
                  </a:lnTo>
                  <a:lnTo>
                    <a:pt x="4038777" y="2768363"/>
                  </a:lnTo>
                  <a:lnTo>
                    <a:pt x="3992206" y="2773794"/>
                  </a:lnTo>
                  <a:lnTo>
                    <a:pt x="204151" y="2773794"/>
                  </a:lnTo>
                  <a:lnTo>
                    <a:pt x="157579" y="2768363"/>
                  </a:lnTo>
                  <a:lnTo>
                    <a:pt x="114701" y="2752912"/>
                  </a:lnTo>
                  <a:lnTo>
                    <a:pt x="76782" y="2728708"/>
                  </a:lnTo>
                  <a:lnTo>
                    <a:pt x="45087" y="2697014"/>
                  </a:lnTo>
                  <a:lnTo>
                    <a:pt x="20882" y="2659095"/>
                  </a:lnTo>
                  <a:lnTo>
                    <a:pt x="5431" y="2616216"/>
                  </a:lnTo>
                  <a:lnTo>
                    <a:pt x="0" y="2569641"/>
                  </a:lnTo>
                  <a:lnTo>
                    <a:pt x="0" y="204152"/>
                  </a:lnTo>
                  <a:close/>
                </a:path>
              </a:pathLst>
            </a:custGeom>
            <a:ln w="7619">
              <a:solidFill>
                <a:srgbClr val="B7D4C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9861867" y="4828819"/>
            <a:ext cx="3543935" cy="15894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10" b="1">
                <a:solidFill>
                  <a:srgbClr val="4B4A4A"/>
                </a:solidFill>
                <a:latin typeface="Arial"/>
                <a:cs typeface="Arial"/>
              </a:rPr>
              <a:t>Outcome</a:t>
            </a:r>
            <a:endParaRPr sz="2200">
              <a:latin typeface="Arial"/>
              <a:cs typeface="Arial"/>
            </a:endParaRPr>
          </a:p>
          <a:p>
            <a:pPr marL="12700" marR="5080">
              <a:lnSpc>
                <a:spcPct val="135700"/>
              </a:lnSpc>
              <a:spcBef>
                <a:spcPts val="1120"/>
              </a:spcBef>
            </a:pP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Delivered</a:t>
            </a:r>
            <a:r>
              <a:rPr dirty="0" sz="1750" spc="-60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KPIs,</a:t>
            </a:r>
            <a:r>
              <a:rPr dirty="0" sz="1750" spc="-5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4B4A4A"/>
                </a:solidFill>
                <a:latin typeface="Arial"/>
                <a:cs typeface="Arial"/>
              </a:rPr>
              <a:t>segmentation,</a:t>
            </a:r>
            <a:r>
              <a:rPr dirty="0" sz="1750" spc="-5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 spc="-20">
                <a:solidFill>
                  <a:srgbClr val="4B4A4A"/>
                </a:solidFill>
                <a:latin typeface="Arial"/>
                <a:cs typeface="Arial"/>
              </a:rPr>
              <a:t>top-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product</a:t>
            </a:r>
            <a:r>
              <a:rPr dirty="0" sz="1750" spc="-50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lists,</a:t>
            </a:r>
            <a:r>
              <a:rPr dirty="0" sz="1750" spc="-4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and</a:t>
            </a:r>
            <a:r>
              <a:rPr dirty="0" sz="1750" spc="-50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 spc="-20">
                <a:solidFill>
                  <a:srgbClr val="4B4A4A"/>
                </a:solidFill>
                <a:latin typeface="Arial"/>
                <a:cs typeface="Arial"/>
              </a:rPr>
              <a:t>time-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based</a:t>
            </a:r>
            <a:r>
              <a:rPr dirty="0" sz="1750" spc="-4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4B4A4A"/>
                </a:solidFill>
                <a:latin typeface="Arial"/>
                <a:cs typeface="Arial"/>
              </a:rPr>
              <a:t>trends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to</a:t>
            </a:r>
            <a:r>
              <a:rPr dirty="0" sz="1750" spc="-40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inform</a:t>
            </a:r>
            <a:r>
              <a:rPr dirty="0" sz="1750" spc="-3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4B4A4A"/>
                </a:solidFill>
                <a:latin typeface="Arial"/>
                <a:cs typeface="Arial"/>
              </a:rPr>
              <a:t>decisions.</a:t>
            </a:r>
            <a:endParaRPr sz="17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39192" y="7749540"/>
            <a:ext cx="1722602" cy="41147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267487" y="2092515"/>
            <a:ext cx="4131945" cy="5664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</a:t>
            </a:r>
            <a:r>
              <a:rPr dirty="0" spc="-75"/>
              <a:t> </a:t>
            </a:r>
            <a:r>
              <a:rPr dirty="0" spc="-10"/>
              <a:t>Statement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54965" marR="175895" indent="-342900">
              <a:lnSpc>
                <a:spcPct val="135700"/>
              </a:lnSpc>
              <a:spcBef>
                <a:spcPts val="100"/>
              </a:spcBef>
              <a:buChar char="•"/>
              <a:tabLst>
                <a:tab pos="354965" algn="l"/>
              </a:tabLst>
            </a:pPr>
            <a:r>
              <a:rPr dirty="0"/>
              <a:t>Businesses</a:t>
            </a:r>
            <a:r>
              <a:rPr dirty="0" spc="-60"/>
              <a:t> </a:t>
            </a:r>
            <a:r>
              <a:rPr dirty="0"/>
              <a:t>need</a:t>
            </a:r>
            <a:r>
              <a:rPr dirty="0" spc="-60"/>
              <a:t> </a:t>
            </a:r>
            <a:r>
              <a:rPr dirty="0"/>
              <a:t>clarity</a:t>
            </a:r>
            <a:r>
              <a:rPr dirty="0" spc="-55"/>
              <a:t> </a:t>
            </a:r>
            <a:r>
              <a:rPr dirty="0"/>
              <a:t>on</a:t>
            </a:r>
            <a:r>
              <a:rPr dirty="0" spc="-60"/>
              <a:t> </a:t>
            </a:r>
            <a:r>
              <a:rPr dirty="0"/>
              <a:t>customer</a:t>
            </a:r>
            <a:r>
              <a:rPr dirty="0" spc="-55"/>
              <a:t> </a:t>
            </a:r>
            <a:r>
              <a:rPr dirty="0"/>
              <a:t>buying</a:t>
            </a:r>
            <a:r>
              <a:rPr dirty="0" spc="-60"/>
              <a:t> </a:t>
            </a:r>
            <a:r>
              <a:rPr dirty="0"/>
              <a:t>behavior</a:t>
            </a:r>
            <a:r>
              <a:rPr dirty="0" spc="-60"/>
              <a:t> </a:t>
            </a:r>
            <a:r>
              <a:rPr dirty="0"/>
              <a:t>to</a:t>
            </a:r>
            <a:r>
              <a:rPr dirty="0" spc="-55"/>
              <a:t> </a:t>
            </a:r>
            <a:r>
              <a:rPr dirty="0" spc="-10"/>
              <a:t>prioritize </a:t>
            </a:r>
            <a:r>
              <a:rPr dirty="0"/>
              <a:t>inventory</a:t>
            </a:r>
            <a:r>
              <a:rPr dirty="0" spc="-70"/>
              <a:t> </a:t>
            </a:r>
            <a:r>
              <a:rPr dirty="0"/>
              <a:t>and</a:t>
            </a:r>
            <a:r>
              <a:rPr dirty="0" spc="-70"/>
              <a:t> </a:t>
            </a:r>
            <a:r>
              <a:rPr dirty="0" spc="-10"/>
              <a:t>campaigns.</a:t>
            </a:r>
          </a:p>
          <a:p>
            <a:pPr marL="354965" marR="5080" indent="-342900">
              <a:lnSpc>
                <a:spcPct val="135700"/>
              </a:lnSpc>
              <a:buChar char="•"/>
              <a:tabLst>
                <a:tab pos="354965" algn="l"/>
              </a:tabLst>
            </a:pPr>
            <a:r>
              <a:rPr dirty="0"/>
              <a:t>Difficulty</a:t>
            </a:r>
            <a:r>
              <a:rPr dirty="0" spc="-70"/>
              <a:t> </a:t>
            </a:r>
            <a:r>
              <a:rPr dirty="0"/>
              <a:t>identifying</a:t>
            </a:r>
            <a:r>
              <a:rPr dirty="0" spc="-65"/>
              <a:t> </a:t>
            </a:r>
            <a:r>
              <a:rPr dirty="0" spc="-20"/>
              <a:t>top-</a:t>
            </a:r>
            <a:r>
              <a:rPr dirty="0" spc="-10"/>
              <a:t>performing</a:t>
            </a:r>
            <a:r>
              <a:rPr dirty="0" spc="-65"/>
              <a:t> </a:t>
            </a:r>
            <a:r>
              <a:rPr dirty="0"/>
              <a:t>products</a:t>
            </a:r>
            <a:r>
              <a:rPr dirty="0" spc="-70"/>
              <a:t> </a:t>
            </a:r>
            <a:r>
              <a:rPr dirty="0"/>
              <a:t>and</a:t>
            </a:r>
            <a:r>
              <a:rPr dirty="0" spc="-65"/>
              <a:t> </a:t>
            </a:r>
            <a:r>
              <a:rPr dirty="0"/>
              <a:t>seasonal</a:t>
            </a:r>
            <a:r>
              <a:rPr dirty="0" spc="-65"/>
              <a:t> </a:t>
            </a:r>
            <a:r>
              <a:rPr dirty="0" spc="-10"/>
              <a:t>demand peaks.</a:t>
            </a:r>
          </a:p>
          <a:p>
            <a:pPr marL="354965" marR="572770" indent="-342900">
              <a:lnSpc>
                <a:spcPct val="135700"/>
              </a:lnSpc>
              <a:buChar char="•"/>
              <a:tabLst>
                <a:tab pos="354965" algn="l"/>
              </a:tabLst>
            </a:pPr>
            <a:r>
              <a:rPr dirty="0"/>
              <a:t>Limited</a:t>
            </a:r>
            <a:r>
              <a:rPr dirty="0" spc="-45"/>
              <a:t> </a:t>
            </a:r>
            <a:r>
              <a:rPr dirty="0"/>
              <a:t>visibility</a:t>
            </a:r>
            <a:r>
              <a:rPr dirty="0" spc="-45"/>
              <a:t> </a:t>
            </a:r>
            <a:r>
              <a:rPr dirty="0"/>
              <a:t>into</a:t>
            </a:r>
            <a:r>
              <a:rPr dirty="0" spc="-45"/>
              <a:t> </a:t>
            </a:r>
            <a:r>
              <a:rPr dirty="0" spc="-20"/>
              <a:t>demographic-</a:t>
            </a:r>
            <a:r>
              <a:rPr dirty="0"/>
              <a:t>driven</a:t>
            </a:r>
            <a:r>
              <a:rPr dirty="0" spc="-45"/>
              <a:t> </a:t>
            </a:r>
            <a:r>
              <a:rPr dirty="0"/>
              <a:t>spend</a:t>
            </a:r>
            <a:r>
              <a:rPr dirty="0" spc="-45"/>
              <a:t> </a:t>
            </a:r>
            <a:r>
              <a:rPr dirty="0"/>
              <a:t>and</a:t>
            </a:r>
            <a:r>
              <a:rPr dirty="0" spc="-45"/>
              <a:t> </a:t>
            </a:r>
            <a:r>
              <a:rPr dirty="0" spc="-10"/>
              <a:t>payment preferences.</a:t>
            </a:r>
          </a:p>
          <a:p>
            <a:pPr marL="354965" marR="261620" indent="-342900">
              <a:lnSpc>
                <a:spcPct val="135700"/>
              </a:lnSpc>
              <a:buChar char="•"/>
              <a:tabLst>
                <a:tab pos="354965" algn="l"/>
              </a:tabLst>
            </a:pPr>
            <a:r>
              <a:rPr dirty="0"/>
              <a:t>This</a:t>
            </a:r>
            <a:r>
              <a:rPr dirty="0" spc="-55"/>
              <a:t> </a:t>
            </a:r>
            <a:r>
              <a:rPr dirty="0"/>
              <a:t>project</a:t>
            </a:r>
            <a:r>
              <a:rPr dirty="0" spc="-50"/>
              <a:t> </a:t>
            </a:r>
            <a:r>
              <a:rPr dirty="0"/>
              <a:t>addresses</a:t>
            </a:r>
            <a:r>
              <a:rPr dirty="0" spc="-50"/>
              <a:t> </a:t>
            </a:r>
            <a:r>
              <a:rPr dirty="0"/>
              <a:t>those</a:t>
            </a:r>
            <a:r>
              <a:rPr dirty="0" spc="-50"/>
              <a:t> </a:t>
            </a:r>
            <a:r>
              <a:rPr dirty="0"/>
              <a:t>gaps</a:t>
            </a:r>
            <a:r>
              <a:rPr dirty="0" spc="-55"/>
              <a:t> </a:t>
            </a:r>
            <a:r>
              <a:rPr dirty="0"/>
              <a:t>with</a:t>
            </a:r>
            <a:r>
              <a:rPr dirty="0" spc="-50"/>
              <a:t> </a:t>
            </a:r>
            <a:r>
              <a:rPr dirty="0" spc="-20"/>
              <a:t>data-</a:t>
            </a:r>
            <a:r>
              <a:rPr dirty="0"/>
              <a:t>driven</a:t>
            </a:r>
            <a:r>
              <a:rPr dirty="0" spc="-50"/>
              <a:t> </a:t>
            </a:r>
            <a:r>
              <a:rPr dirty="0"/>
              <a:t>analysis</a:t>
            </a:r>
            <a:r>
              <a:rPr dirty="0" spc="-50"/>
              <a:t> </a:t>
            </a:r>
            <a:r>
              <a:rPr dirty="0" spc="-25"/>
              <a:t>and </a:t>
            </a:r>
            <a:r>
              <a:rPr dirty="0" spc="-10"/>
              <a:t>visualization.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Dataset</a:t>
            </a:r>
            <a:r>
              <a:rPr dirty="0" spc="-130"/>
              <a:t> </a:t>
            </a:r>
            <a:r>
              <a:rPr dirty="0" spc="-10"/>
              <a:t>Description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781089" y="2912274"/>
            <a:ext cx="1934210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b="1">
                <a:solidFill>
                  <a:srgbClr val="006646"/>
                </a:solidFill>
                <a:latin typeface="Arial"/>
                <a:cs typeface="Arial"/>
              </a:rPr>
              <a:t>Core</a:t>
            </a:r>
            <a:r>
              <a:rPr dirty="0" sz="2200" spc="-40" b="1">
                <a:solidFill>
                  <a:srgbClr val="006646"/>
                </a:solidFill>
                <a:latin typeface="Arial"/>
                <a:cs typeface="Arial"/>
              </a:rPr>
              <a:t> </a:t>
            </a:r>
            <a:r>
              <a:rPr dirty="0" sz="2200" spc="-10" b="1">
                <a:solidFill>
                  <a:srgbClr val="006646"/>
                </a:solidFill>
                <a:latin typeface="Arial"/>
                <a:cs typeface="Arial"/>
              </a:rPr>
              <a:t>Columns</a:t>
            </a:r>
            <a:endParaRPr sz="220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781089" y="3480650"/>
            <a:ext cx="2903220" cy="1473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5700"/>
              </a:lnSpc>
              <a:spcBef>
                <a:spcPts val="100"/>
              </a:spcBef>
            </a:pP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Customer</a:t>
            </a:r>
            <a:r>
              <a:rPr dirty="0" sz="1750" spc="-70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ID</a:t>
            </a:r>
            <a:r>
              <a:rPr dirty="0" sz="1750" spc="-6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·</a:t>
            </a:r>
            <a:r>
              <a:rPr dirty="0" sz="1750" spc="-6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Age</a:t>
            </a:r>
            <a:r>
              <a:rPr dirty="0" sz="1750" spc="-6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·</a:t>
            </a:r>
            <a:r>
              <a:rPr dirty="0" sz="1750" spc="-6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Gender</a:t>
            </a:r>
            <a:r>
              <a:rPr dirty="0" sz="1750" spc="-6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 spc="-50">
                <a:solidFill>
                  <a:srgbClr val="4B4A4A"/>
                </a:solidFill>
                <a:latin typeface="Arial"/>
                <a:cs typeface="Arial"/>
              </a:rPr>
              <a:t>·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Product</a:t>
            </a:r>
            <a:r>
              <a:rPr dirty="0" sz="1750" spc="-90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Category</a:t>
            </a:r>
            <a:r>
              <a:rPr dirty="0" sz="1750" spc="-8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·</a:t>
            </a:r>
            <a:r>
              <a:rPr dirty="0" sz="1750" spc="-90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4B4A4A"/>
                </a:solidFill>
                <a:latin typeface="Arial"/>
                <a:cs typeface="Arial"/>
              </a:rPr>
              <a:t>Purchase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Amount</a:t>
            </a:r>
            <a:r>
              <a:rPr dirty="0" sz="1750" spc="-8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·</a:t>
            </a:r>
            <a:r>
              <a:rPr dirty="0" sz="1750" spc="-8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Payment</a:t>
            </a:r>
            <a:r>
              <a:rPr dirty="0" sz="1750" spc="-8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Method</a:t>
            </a:r>
            <a:r>
              <a:rPr dirty="0" sz="1750" spc="-8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 spc="-50">
                <a:solidFill>
                  <a:srgbClr val="4B4A4A"/>
                </a:solidFill>
                <a:latin typeface="Arial"/>
                <a:cs typeface="Arial"/>
              </a:rPr>
              <a:t>·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Location</a:t>
            </a:r>
            <a:r>
              <a:rPr dirty="0" sz="1750" spc="-70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·</a:t>
            </a:r>
            <a:r>
              <a:rPr dirty="0" sz="1750" spc="-6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Date</a:t>
            </a:r>
            <a:r>
              <a:rPr dirty="0" sz="1750" spc="-70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of</a:t>
            </a:r>
            <a:r>
              <a:rPr dirty="0" sz="1750" spc="-6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4B4A4A"/>
                </a:solidFill>
                <a:latin typeface="Arial"/>
                <a:cs typeface="Arial"/>
              </a:rPr>
              <a:t>Purchase</a:t>
            </a:r>
            <a:endParaRPr sz="175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781089" y="5136337"/>
            <a:ext cx="3284854" cy="11112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5700"/>
              </a:lnSpc>
              <a:spcBef>
                <a:spcPts val="100"/>
              </a:spcBef>
            </a:pP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Time</a:t>
            </a:r>
            <a:r>
              <a:rPr dirty="0" sz="1750" spc="-7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range:</a:t>
            </a:r>
            <a:r>
              <a:rPr dirty="0" sz="1750" spc="-70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multiple</a:t>
            </a:r>
            <a:r>
              <a:rPr dirty="0" sz="1750" spc="-70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months</a:t>
            </a:r>
            <a:r>
              <a:rPr dirty="0" sz="1750" spc="-7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 spc="-50">
                <a:solidFill>
                  <a:srgbClr val="4B4A4A"/>
                </a:solidFill>
                <a:latin typeface="Arial"/>
                <a:cs typeface="Arial"/>
              </a:rPr>
              <a:t>—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suitable</a:t>
            </a:r>
            <a:r>
              <a:rPr dirty="0" sz="1750" spc="-5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for</a:t>
            </a:r>
            <a:r>
              <a:rPr dirty="0" sz="1750" spc="-50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trend</a:t>
            </a:r>
            <a:r>
              <a:rPr dirty="0" sz="1750" spc="-50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and</a:t>
            </a:r>
            <a:r>
              <a:rPr dirty="0" sz="1750" spc="-5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4B4A4A"/>
                </a:solidFill>
                <a:latin typeface="Arial"/>
                <a:cs typeface="Arial"/>
              </a:rPr>
              <a:t>seasonality analysis.</a:t>
            </a:r>
            <a:endParaRPr sz="175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843614" y="2912274"/>
            <a:ext cx="292798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b="1">
                <a:solidFill>
                  <a:srgbClr val="006646"/>
                </a:solidFill>
                <a:latin typeface="Arial"/>
                <a:cs typeface="Arial"/>
              </a:rPr>
              <a:t>Preparation</a:t>
            </a:r>
            <a:r>
              <a:rPr dirty="0" sz="2200" spc="-140" b="1">
                <a:solidFill>
                  <a:srgbClr val="006646"/>
                </a:solidFill>
                <a:latin typeface="Arial"/>
                <a:cs typeface="Arial"/>
              </a:rPr>
              <a:t> </a:t>
            </a:r>
            <a:r>
              <a:rPr dirty="0" sz="2200" spc="-10" b="1">
                <a:solidFill>
                  <a:srgbClr val="006646"/>
                </a:solidFill>
                <a:latin typeface="Arial"/>
                <a:cs typeface="Arial"/>
              </a:rPr>
              <a:t>Summary</a:t>
            </a:r>
            <a:endParaRPr sz="220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4843614" y="3480650"/>
            <a:ext cx="3271520" cy="1835150"/>
          </a:xfrm>
          <a:prstGeom prst="rect">
            <a:avLst/>
          </a:prstGeom>
        </p:spPr>
        <p:txBody>
          <a:bodyPr wrap="square" lIns="0" tIns="10795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50"/>
              </a:spcBef>
              <a:buChar char="•"/>
              <a:tabLst>
                <a:tab pos="354965" algn="l"/>
              </a:tabLst>
            </a:pP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Removed</a:t>
            </a:r>
            <a:r>
              <a:rPr dirty="0" sz="1750" spc="-10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4B4A4A"/>
                </a:solidFill>
                <a:latin typeface="Arial"/>
                <a:cs typeface="Arial"/>
              </a:rPr>
              <a:t>duplicates</a:t>
            </a:r>
            <a:endParaRPr sz="175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750"/>
              </a:spcBef>
              <a:buChar char="•"/>
              <a:tabLst>
                <a:tab pos="354965" algn="l"/>
              </a:tabLst>
            </a:pPr>
            <a:r>
              <a:rPr dirty="0" sz="1750" spc="-10">
                <a:solidFill>
                  <a:srgbClr val="4B4A4A"/>
                </a:solidFill>
                <a:latin typeface="Arial"/>
                <a:cs typeface="Arial"/>
              </a:rPr>
              <a:t>Standardized</a:t>
            </a:r>
            <a:r>
              <a:rPr dirty="0" sz="1750" spc="-20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4B4A4A"/>
                </a:solidFill>
                <a:latin typeface="Arial"/>
                <a:cs typeface="Arial"/>
              </a:rPr>
              <a:t>categories</a:t>
            </a:r>
            <a:endParaRPr sz="175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750"/>
              </a:spcBef>
              <a:buChar char="•"/>
              <a:tabLst>
                <a:tab pos="354965" algn="l"/>
              </a:tabLst>
            </a:pPr>
            <a:r>
              <a:rPr dirty="0" sz="1750" spc="-10">
                <a:solidFill>
                  <a:srgbClr val="4B4A4A"/>
                </a:solidFill>
                <a:latin typeface="Arial"/>
                <a:cs typeface="Arial"/>
              </a:rPr>
              <a:t>Normalized</a:t>
            </a:r>
            <a:r>
              <a:rPr dirty="0" sz="1750" spc="-6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location</a:t>
            </a:r>
            <a:r>
              <a:rPr dirty="0" sz="1750" spc="-60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4B4A4A"/>
                </a:solidFill>
                <a:latin typeface="Arial"/>
                <a:cs typeface="Arial"/>
              </a:rPr>
              <a:t>fields</a:t>
            </a:r>
            <a:endParaRPr sz="1750">
              <a:latin typeface="Arial"/>
              <a:cs typeface="Arial"/>
            </a:endParaRPr>
          </a:p>
          <a:p>
            <a:pPr marL="355600" marR="5080" indent="-342900">
              <a:lnSpc>
                <a:spcPct val="135700"/>
              </a:lnSpc>
              <a:buChar char="•"/>
              <a:tabLst>
                <a:tab pos="355600" algn="l"/>
              </a:tabLst>
            </a:pP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Parsed</a:t>
            </a:r>
            <a:r>
              <a:rPr dirty="0" sz="1750" spc="-6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and</a:t>
            </a:r>
            <a:r>
              <a:rPr dirty="0" sz="1750" spc="-60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indexed</a:t>
            </a:r>
            <a:r>
              <a:rPr dirty="0" sz="1750" spc="-6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dates</a:t>
            </a:r>
            <a:r>
              <a:rPr dirty="0" sz="1750" spc="-60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 spc="-25">
                <a:solidFill>
                  <a:srgbClr val="4B4A4A"/>
                </a:solidFill>
                <a:latin typeface="Arial"/>
                <a:cs typeface="Arial"/>
              </a:rPr>
              <a:t>for </a:t>
            </a:r>
            <a:r>
              <a:rPr dirty="0" sz="1750" spc="-10">
                <a:solidFill>
                  <a:srgbClr val="4B4A4A"/>
                </a:solidFill>
                <a:latin typeface="Arial"/>
                <a:cs typeface="Arial"/>
              </a:rPr>
              <a:t>time-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series</a:t>
            </a:r>
            <a:r>
              <a:rPr dirty="0" sz="1750" spc="-40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4B4A4A"/>
                </a:solidFill>
                <a:latin typeface="Arial"/>
                <a:cs typeface="Arial"/>
              </a:rPr>
              <a:t>analysis</a:t>
            </a:r>
            <a:endParaRPr sz="17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81089" y="1385163"/>
            <a:ext cx="4709160" cy="5664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Tools</a:t>
            </a:r>
            <a:r>
              <a:rPr dirty="0" spc="-15"/>
              <a:t> </a:t>
            </a:r>
            <a:r>
              <a:rPr dirty="0"/>
              <a:t>&amp;</a:t>
            </a:r>
            <a:r>
              <a:rPr dirty="0" spc="-15"/>
              <a:t> </a:t>
            </a:r>
            <a:r>
              <a:rPr dirty="0" spc="-10"/>
              <a:t>Technologies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3789" y="2290406"/>
            <a:ext cx="566976" cy="566978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93789" y="3960253"/>
            <a:ext cx="566976" cy="566978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93789" y="5630113"/>
            <a:ext cx="566976" cy="566978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1631556" y="2285771"/>
            <a:ext cx="6654800" cy="456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10" b="1">
                <a:solidFill>
                  <a:srgbClr val="4B4A4A"/>
                </a:solidFill>
                <a:latin typeface="Arial"/>
                <a:cs typeface="Arial"/>
              </a:rPr>
              <a:t>Python</a:t>
            </a:r>
            <a:endParaRPr sz="2200">
              <a:latin typeface="Arial"/>
              <a:cs typeface="Arial"/>
            </a:endParaRPr>
          </a:p>
          <a:p>
            <a:pPr marL="12700" marR="250825">
              <a:lnSpc>
                <a:spcPct val="135700"/>
              </a:lnSpc>
              <a:spcBef>
                <a:spcPts val="1120"/>
              </a:spcBef>
            </a:pP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Data</a:t>
            </a:r>
            <a:r>
              <a:rPr dirty="0" sz="1750" spc="-70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cleaning,</a:t>
            </a:r>
            <a:r>
              <a:rPr dirty="0" sz="1750" spc="-70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EDA,</a:t>
            </a:r>
            <a:r>
              <a:rPr dirty="0" sz="1750" spc="-70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scripting,</a:t>
            </a:r>
            <a:r>
              <a:rPr dirty="0" sz="1750" spc="-6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and</a:t>
            </a:r>
            <a:r>
              <a:rPr dirty="0" sz="1750" spc="-70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automation</a:t>
            </a:r>
            <a:r>
              <a:rPr dirty="0" sz="1750" spc="-70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using</a:t>
            </a:r>
            <a:r>
              <a:rPr dirty="0" sz="1750" spc="-6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Pandas</a:t>
            </a:r>
            <a:r>
              <a:rPr dirty="0" sz="1750" spc="-70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 spc="-25">
                <a:solidFill>
                  <a:srgbClr val="4B4A4A"/>
                </a:solidFill>
                <a:latin typeface="Arial"/>
                <a:cs typeface="Arial"/>
              </a:rPr>
              <a:t>and </a:t>
            </a:r>
            <a:r>
              <a:rPr dirty="0" sz="1750" spc="-10">
                <a:solidFill>
                  <a:srgbClr val="4B4A4A"/>
                </a:solidFill>
                <a:latin typeface="Arial"/>
                <a:cs typeface="Arial"/>
              </a:rPr>
              <a:t>NumPy.</a:t>
            </a:r>
            <a:endParaRPr sz="17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75"/>
              </a:spcBef>
            </a:pPr>
            <a:endParaRPr sz="1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2200" spc="-10" b="1">
                <a:solidFill>
                  <a:srgbClr val="4B4A4A"/>
                </a:solidFill>
                <a:latin typeface="Arial"/>
                <a:cs typeface="Arial"/>
              </a:rPr>
              <a:t>PostgreSQL</a:t>
            </a:r>
            <a:endParaRPr sz="2200">
              <a:latin typeface="Arial"/>
              <a:cs typeface="Arial"/>
            </a:endParaRPr>
          </a:p>
          <a:p>
            <a:pPr marL="12700" marR="609600">
              <a:lnSpc>
                <a:spcPct val="135700"/>
              </a:lnSpc>
              <a:spcBef>
                <a:spcPts val="1120"/>
              </a:spcBef>
            </a:pP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Structured</a:t>
            </a:r>
            <a:r>
              <a:rPr dirty="0" sz="1750" spc="-6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storage,</a:t>
            </a:r>
            <a:r>
              <a:rPr dirty="0" sz="1750" spc="-6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indexing,</a:t>
            </a:r>
            <a:r>
              <a:rPr dirty="0" sz="1750" spc="-6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and</a:t>
            </a:r>
            <a:r>
              <a:rPr dirty="0" sz="1750" spc="-6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4B4A4A"/>
                </a:solidFill>
                <a:latin typeface="Arial"/>
                <a:cs typeface="Arial"/>
              </a:rPr>
              <a:t>performant</a:t>
            </a:r>
            <a:r>
              <a:rPr dirty="0" sz="1750" spc="-60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SQL</a:t>
            </a:r>
            <a:r>
              <a:rPr dirty="0" sz="1750" spc="-6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queries</a:t>
            </a:r>
            <a:r>
              <a:rPr dirty="0" sz="1750" spc="-6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 spc="-25">
                <a:solidFill>
                  <a:srgbClr val="4B4A4A"/>
                </a:solidFill>
                <a:latin typeface="Arial"/>
                <a:cs typeface="Arial"/>
              </a:rPr>
              <a:t>for </a:t>
            </a:r>
            <a:r>
              <a:rPr dirty="0" sz="1750" spc="-10">
                <a:solidFill>
                  <a:srgbClr val="4B4A4A"/>
                </a:solidFill>
                <a:latin typeface="Arial"/>
                <a:cs typeface="Arial"/>
              </a:rPr>
              <a:t>analytics.</a:t>
            </a:r>
            <a:endParaRPr sz="17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75"/>
              </a:spcBef>
            </a:pPr>
            <a:endParaRPr sz="1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2200" spc="-10" b="1">
                <a:solidFill>
                  <a:srgbClr val="4B4A4A"/>
                </a:solidFill>
                <a:latin typeface="Arial"/>
                <a:cs typeface="Arial"/>
              </a:rPr>
              <a:t>Visualization</a:t>
            </a:r>
            <a:endParaRPr sz="2200">
              <a:latin typeface="Arial"/>
              <a:cs typeface="Arial"/>
            </a:endParaRPr>
          </a:p>
          <a:p>
            <a:pPr marL="12700" marR="5080">
              <a:lnSpc>
                <a:spcPct val="135700"/>
              </a:lnSpc>
              <a:spcBef>
                <a:spcPts val="1125"/>
              </a:spcBef>
            </a:pP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Matplotlib</a:t>
            </a:r>
            <a:r>
              <a:rPr dirty="0" sz="1750" spc="-5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&amp;</a:t>
            </a:r>
            <a:r>
              <a:rPr dirty="0" sz="1750" spc="-50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Seaborn</a:t>
            </a:r>
            <a:r>
              <a:rPr dirty="0" sz="1750" spc="-50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for</a:t>
            </a:r>
            <a:r>
              <a:rPr dirty="0" sz="1750" spc="-50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exploratory</a:t>
            </a:r>
            <a:r>
              <a:rPr dirty="0" sz="1750" spc="-50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charts;</a:t>
            </a:r>
            <a:r>
              <a:rPr dirty="0" sz="1750" spc="-50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Power</a:t>
            </a:r>
            <a:r>
              <a:rPr dirty="0" sz="1750" spc="-50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BI</a:t>
            </a:r>
            <a:r>
              <a:rPr dirty="0" sz="1750" spc="-50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for</a:t>
            </a:r>
            <a:r>
              <a:rPr dirty="0" sz="1750" spc="-5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4B4A4A"/>
                </a:solidFill>
                <a:latin typeface="Arial"/>
                <a:cs typeface="Arial"/>
              </a:rPr>
              <a:t>interactive dashboards.</a:t>
            </a:r>
            <a:endParaRPr sz="17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4630400" cy="2976918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781089" y="4235996"/>
            <a:ext cx="6736080" cy="566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550" b="1">
                <a:solidFill>
                  <a:srgbClr val="006646"/>
                </a:solidFill>
                <a:latin typeface="Arial"/>
                <a:cs typeface="Arial"/>
              </a:rPr>
              <a:t>Data</a:t>
            </a:r>
            <a:r>
              <a:rPr dirty="0" sz="3550" spc="-40" b="1">
                <a:solidFill>
                  <a:srgbClr val="006646"/>
                </a:solidFill>
                <a:latin typeface="Arial"/>
                <a:cs typeface="Arial"/>
              </a:rPr>
              <a:t> </a:t>
            </a:r>
            <a:r>
              <a:rPr dirty="0" sz="3550" b="1">
                <a:solidFill>
                  <a:srgbClr val="006646"/>
                </a:solidFill>
                <a:latin typeface="Arial"/>
                <a:cs typeface="Arial"/>
              </a:rPr>
              <a:t>Cleaning</a:t>
            </a:r>
            <a:r>
              <a:rPr dirty="0" sz="3550" spc="-40" b="1">
                <a:solidFill>
                  <a:srgbClr val="006646"/>
                </a:solidFill>
                <a:latin typeface="Arial"/>
                <a:cs typeface="Arial"/>
              </a:rPr>
              <a:t> </a:t>
            </a:r>
            <a:r>
              <a:rPr dirty="0" sz="3550" b="1">
                <a:solidFill>
                  <a:srgbClr val="006646"/>
                </a:solidFill>
                <a:latin typeface="Arial"/>
                <a:cs typeface="Arial"/>
              </a:rPr>
              <a:t>&amp;</a:t>
            </a:r>
            <a:r>
              <a:rPr dirty="0" sz="3550" spc="-40" b="1">
                <a:solidFill>
                  <a:srgbClr val="006646"/>
                </a:solidFill>
                <a:latin typeface="Arial"/>
                <a:cs typeface="Arial"/>
              </a:rPr>
              <a:t> </a:t>
            </a:r>
            <a:r>
              <a:rPr dirty="0" sz="3550" spc="-10" b="1">
                <a:solidFill>
                  <a:srgbClr val="006646"/>
                </a:solidFill>
                <a:latin typeface="Arial"/>
                <a:cs typeface="Arial"/>
              </a:rPr>
              <a:t>Preprocessing</a:t>
            </a:r>
            <a:endParaRPr sz="355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81089" y="5123840"/>
            <a:ext cx="8714105" cy="1473200"/>
          </a:xfrm>
          <a:prstGeom prst="rect">
            <a:avLst/>
          </a:prstGeom>
        </p:spPr>
        <p:txBody>
          <a:bodyPr wrap="square" lIns="0" tIns="10795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50"/>
              </a:spcBef>
              <a:buAutoNum type="arabicPeriod"/>
              <a:tabLst>
                <a:tab pos="354965" algn="l"/>
              </a:tabLst>
            </a:pP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Handled</a:t>
            </a:r>
            <a:r>
              <a:rPr dirty="0" sz="1750" spc="-60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missing</a:t>
            </a:r>
            <a:r>
              <a:rPr dirty="0" sz="1750" spc="-60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values</a:t>
            </a:r>
            <a:r>
              <a:rPr dirty="0" sz="1750" spc="-5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with</a:t>
            </a:r>
            <a:r>
              <a:rPr dirty="0" sz="1750" spc="-60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 spc="-20">
                <a:solidFill>
                  <a:srgbClr val="4B4A4A"/>
                </a:solidFill>
                <a:latin typeface="Arial"/>
                <a:cs typeface="Arial"/>
              </a:rPr>
              <a:t>context-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aware</a:t>
            </a:r>
            <a:r>
              <a:rPr dirty="0" sz="1750" spc="-60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imputation</a:t>
            </a:r>
            <a:r>
              <a:rPr dirty="0" sz="1750" spc="-5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and</a:t>
            </a:r>
            <a:r>
              <a:rPr dirty="0" sz="1750" spc="-60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flagging</a:t>
            </a:r>
            <a:r>
              <a:rPr dirty="0" sz="1750" spc="-5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for</a:t>
            </a:r>
            <a:r>
              <a:rPr dirty="0" sz="1750" spc="-60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4B4A4A"/>
                </a:solidFill>
                <a:latin typeface="Arial"/>
                <a:cs typeface="Arial"/>
              </a:rPr>
              <a:t>analysis.</a:t>
            </a:r>
            <a:endParaRPr sz="175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750"/>
              </a:spcBef>
              <a:buAutoNum type="arabicPeriod"/>
              <a:tabLst>
                <a:tab pos="354965" algn="l"/>
              </a:tabLst>
            </a:pP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Removed</a:t>
            </a:r>
            <a:r>
              <a:rPr dirty="0" sz="1750" spc="-6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duplicate</a:t>
            </a:r>
            <a:r>
              <a:rPr dirty="0" sz="1750" spc="-6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4B4A4A"/>
                </a:solidFill>
                <a:latin typeface="Arial"/>
                <a:cs typeface="Arial"/>
              </a:rPr>
              <a:t>transactions</a:t>
            </a:r>
            <a:r>
              <a:rPr dirty="0" sz="1750" spc="-6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and</a:t>
            </a:r>
            <a:r>
              <a:rPr dirty="0" sz="1750" spc="-6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corrected</a:t>
            </a:r>
            <a:r>
              <a:rPr dirty="0" sz="1750" spc="-6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4B4A4A"/>
                </a:solidFill>
                <a:latin typeface="Arial"/>
                <a:cs typeface="Arial"/>
              </a:rPr>
              <a:t>inconsistent</a:t>
            </a:r>
            <a:r>
              <a:rPr dirty="0" sz="1750" spc="-60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4B4A4A"/>
                </a:solidFill>
                <a:latin typeface="Arial"/>
                <a:cs typeface="Arial"/>
              </a:rPr>
              <a:t>records.</a:t>
            </a:r>
            <a:endParaRPr sz="175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750"/>
              </a:spcBef>
              <a:buAutoNum type="arabicPeriod"/>
              <a:tabLst>
                <a:tab pos="354965" algn="l"/>
              </a:tabLst>
            </a:pP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Converted</a:t>
            </a:r>
            <a:r>
              <a:rPr dirty="0" sz="1750" spc="-5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data</a:t>
            </a:r>
            <a:r>
              <a:rPr dirty="0" sz="1750" spc="-5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types,</a:t>
            </a:r>
            <a:r>
              <a:rPr dirty="0" sz="1750" spc="-5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4B4A4A"/>
                </a:solidFill>
                <a:latin typeface="Arial"/>
                <a:cs typeface="Arial"/>
              </a:rPr>
              <a:t>standardized</a:t>
            </a:r>
            <a:r>
              <a:rPr dirty="0" sz="1750" spc="-5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4B4A4A"/>
                </a:solidFill>
                <a:latin typeface="Arial"/>
                <a:cs typeface="Arial"/>
              </a:rPr>
              <a:t>categorical</a:t>
            </a:r>
            <a:r>
              <a:rPr dirty="0" sz="1750" spc="-5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labels,</a:t>
            </a:r>
            <a:r>
              <a:rPr dirty="0" sz="1750" spc="-5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and</a:t>
            </a:r>
            <a:r>
              <a:rPr dirty="0" sz="1750" spc="-50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parsed</a:t>
            </a:r>
            <a:r>
              <a:rPr dirty="0" sz="1750" spc="-5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dates</a:t>
            </a:r>
            <a:r>
              <a:rPr dirty="0" sz="1750" spc="-5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to</a:t>
            </a:r>
            <a:r>
              <a:rPr dirty="0" sz="1750" spc="-5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4B4A4A"/>
                </a:solidFill>
                <a:latin typeface="Arial"/>
                <a:cs typeface="Arial"/>
              </a:rPr>
              <a:t>datetime.</a:t>
            </a:r>
            <a:endParaRPr sz="175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750"/>
              </a:spcBef>
              <a:buAutoNum type="arabicPeriod"/>
              <a:tabLst>
                <a:tab pos="354965" algn="l"/>
              </a:tabLst>
            </a:pP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Validation</a:t>
            </a:r>
            <a:r>
              <a:rPr dirty="0" sz="1750" spc="-7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checks</a:t>
            </a:r>
            <a:r>
              <a:rPr dirty="0" sz="1750" spc="-7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for</a:t>
            </a:r>
            <a:r>
              <a:rPr dirty="0" sz="1750" spc="-7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outliers,</a:t>
            </a:r>
            <a:r>
              <a:rPr dirty="0" sz="1750" spc="-7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negative</a:t>
            </a:r>
            <a:r>
              <a:rPr dirty="0" sz="1750" spc="-7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amounts,</a:t>
            </a:r>
            <a:r>
              <a:rPr dirty="0" sz="1750" spc="-7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and</a:t>
            </a:r>
            <a:r>
              <a:rPr dirty="0" sz="1750" spc="-7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location</a:t>
            </a:r>
            <a:r>
              <a:rPr dirty="0" sz="1750" spc="-7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4B4A4A"/>
                </a:solidFill>
                <a:latin typeface="Arial"/>
                <a:cs typeface="Arial"/>
              </a:rPr>
              <a:t>consistency.</a:t>
            </a:r>
            <a:endParaRPr sz="17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39192" y="7749540"/>
            <a:ext cx="1722602" cy="41147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Exploratory</a:t>
            </a:r>
            <a:r>
              <a:rPr dirty="0" spc="-120"/>
              <a:t> </a:t>
            </a:r>
            <a:r>
              <a:rPr dirty="0"/>
              <a:t>Data</a:t>
            </a:r>
            <a:r>
              <a:rPr dirty="0" spc="-114"/>
              <a:t> </a:t>
            </a:r>
            <a:r>
              <a:rPr dirty="0"/>
              <a:t>Analysis</a:t>
            </a:r>
            <a:r>
              <a:rPr dirty="0" spc="-114"/>
              <a:t> </a:t>
            </a:r>
            <a:r>
              <a:rPr dirty="0" spc="-10"/>
              <a:t>(EDA)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3789" y="2788920"/>
            <a:ext cx="1767839" cy="1092517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781089" y="4160291"/>
            <a:ext cx="2816225" cy="15894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b="1">
                <a:solidFill>
                  <a:srgbClr val="4B4A4A"/>
                </a:solidFill>
                <a:latin typeface="Arial"/>
                <a:cs typeface="Arial"/>
              </a:rPr>
              <a:t>Sales</a:t>
            </a:r>
            <a:r>
              <a:rPr dirty="0" sz="2200" spc="-40" b="1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4B4A4A"/>
                </a:solidFill>
                <a:latin typeface="Arial"/>
                <a:cs typeface="Arial"/>
              </a:rPr>
              <a:t>by</a:t>
            </a:r>
            <a:r>
              <a:rPr dirty="0" sz="2200" spc="-40" b="1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2200" spc="-10" b="1">
                <a:solidFill>
                  <a:srgbClr val="4B4A4A"/>
                </a:solidFill>
                <a:latin typeface="Arial"/>
                <a:cs typeface="Arial"/>
              </a:rPr>
              <a:t>Category</a:t>
            </a:r>
            <a:endParaRPr sz="2200">
              <a:latin typeface="Arial"/>
              <a:cs typeface="Arial"/>
            </a:endParaRPr>
          </a:p>
          <a:p>
            <a:pPr marL="12700" marR="5080">
              <a:lnSpc>
                <a:spcPct val="135700"/>
              </a:lnSpc>
              <a:spcBef>
                <a:spcPts val="1120"/>
              </a:spcBef>
            </a:pP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Identified</a:t>
            </a:r>
            <a:r>
              <a:rPr dirty="0" sz="1750" spc="-30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 spc="-20">
                <a:solidFill>
                  <a:srgbClr val="4B4A4A"/>
                </a:solidFill>
                <a:latin typeface="Arial"/>
                <a:cs typeface="Arial"/>
              </a:rPr>
              <a:t>highest-</a:t>
            </a:r>
            <a:r>
              <a:rPr dirty="0" sz="1750" spc="-10">
                <a:solidFill>
                  <a:srgbClr val="4B4A4A"/>
                </a:solidFill>
                <a:latin typeface="Arial"/>
                <a:cs typeface="Arial"/>
              </a:rPr>
              <a:t>revenue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categories</a:t>
            </a:r>
            <a:r>
              <a:rPr dirty="0" sz="1750" spc="-70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and</a:t>
            </a:r>
            <a:r>
              <a:rPr dirty="0" sz="1750" spc="-6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4B4A4A"/>
                </a:solidFill>
                <a:latin typeface="Arial"/>
                <a:cs typeface="Arial"/>
              </a:rPr>
              <a:t>opportunities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for</a:t>
            </a:r>
            <a:r>
              <a:rPr dirty="0" sz="1750" spc="20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 spc="-20">
                <a:solidFill>
                  <a:srgbClr val="4B4A4A"/>
                </a:solidFill>
                <a:latin typeface="Arial"/>
                <a:cs typeface="Arial"/>
              </a:rPr>
              <a:t>cross-</a:t>
            </a:r>
            <a:r>
              <a:rPr dirty="0" sz="1750" spc="-10">
                <a:solidFill>
                  <a:srgbClr val="4B4A4A"/>
                </a:solidFill>
                <a:latin typeface="Arial"/>
                <a:cs typeface="Arial"/>
              </a:rPr>
              <a:t>sell.</a:t>
            </a:r>
            <a:endParaRPr sz="1750">
              <a:latin typeface="Arial"/>
              <a:cs typeface="Arial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125277" y="2788920"/>
            <a:ext cx="1767839" cy="1092517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4112577" y="4160291"/>
            <a:ext cx="2988945" cy="19437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059180">
              <a:lnSpc>
                <a:spcPts val="2750"/>
              </a:lnSpc>
              <a:spcBef>
                <a:spcPts val="100"/>
              </a:spcBef>
            </a:pPr>
            <a:r>
              <a:rPr dirty="0" sz="2200" b="1">
                <a:solidFill>
                  <a:srgbClr val="4B4A4A"/>
                </a:solidFill>
                <a:latin typeface="Arial"/>
                <a:cs typeface="Arial"/>
              </a:rPr>
              <a:t>Customer</a:t>
            </a:r>
            <a:r>
              <a:rPr dirty="0" sz="2200" spc="-90" b="1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2200" spc="-25" b="1">
                <a:solidFill>
                  <a:srgbClr val="4B4A4A"/>
                </a:solidFill>
                <a:latin typeface="Arial"/>
                <a:cs typeface="Arial"/>
              </a:rPr>
              <a:t>Age </a:t>
            </a:r>
            <a:r>
              <a:rPr dirty="0" sz="2200" spc="-10" b="1">
                <a:solidFill>
                  <a:srgbClr val="4B4A4A"/>
                </a:solidFill>
                <a:latin typeface="Arial"/>
                <a:cs typeface="Arial"/>
              </a:rPr>
              <a:t>Distribution</a:t>
            </a:r>
            <a:endParaRPr sz="2200">
              <a:latin typeface="Arial"/>
              <a:cs typeface="Arial"/>
            </a:endParaRPr>
          </a:p>
          <a:p>
            <a:pPr algn="just" marL="12700" marR="5080">
              <a:lnSpc>
                <a:spcPct val="135700"/>
              </a:lnSpc>
              <a:spcBef>
                <a:spcPts val="1050"/>
              </a:spcBef>
            </a:pP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Two</a:t>
            </a:r>
            <a:r>
              <a:rPr dirty="0" sz="1750" spc="-80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dominant</a:t>
            </a:r>
            <a:r>
              <a:rPr dirty="0" sz="1750" spc="-80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cohorts:</a:t>
            </a:r>
            <a:r>
              <a:rPr dirty="0" sz="1750" spc="-80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4B4A4A"/>
                </a:solidFill>
                <a:latin typeface="Arial"/>
                <a:cs typeface="Arial"/>
              </a:rPr>
              <a:t>25–34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and</a:t>
            </a:r>
            <a:r>
              <a:rPr dirty="0" sz="1750" spc="-7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45–54,</a:t>
            </a:r>
            <a:r>
              <a:rPr dirty="0" sz="1750" spc="-7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informing</a:t>
            </a:r>
            <a:r>
              <a:rPr dirty="0" sz="1750" spc="-7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4B4A4A"/>
                </a:solidFill>
                <a:latin typeface="Arial"/>
                <a:cs typeface="Arial"/>
              </a:rPr>
              <a:t>targeted promotions.</a:t>
            </a:r>
            <a:endParaRPr sz="1750">
              <a:latin typeface="Arial"/>
              <a:cs typeface="Arial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456881" y="2788920"/>
            <a:ext cx="1767840" cy="1092517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7444181" y="4160291"/>
            <a:ext cx="2912110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b="1">
                <a:solidFill>
                  <a:srgbClr val="4B4A4A"/>
                </a:solidFill>
                <a:latin typeface="Arial"/>
                <a:cs typeface="Arial"/>
              </a:rPr>
              <a:t>Monthly</a:t>
            </a:r>
            <a:r>
              <a:rPr dirty="0" sz="2200" spc="-75" b="1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4B4A4A"/>
                </a:solidFill>
                <a:latin typeface="Arial"/>
                <a:cs typeface="Arial"/>
              </a:rPr>
              <a:t>Sales</a:t>
            </a:r>
            <a:r>
              <a:rPr dirty="0" sz="2200" spc="-75" b="1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2200" spc="-10" b="1">
                <a:solidFill>
                  <a:srgbClr val="4B4A4A"/>
                </a:solidFill>
                <a:latin typeface="Arial"/>
                <a:cs typeface="Arial"/>
              </a:rPr>
              <a:t>Trends</a:t>
            </a:r>
            <a:endParaRPr sz="220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7444181" y="4992281"/>
            <a:ext cx="3025140" cy="11112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5700"/>
              </a:lnSpc>
              <a:spcBef>
                <a:spcPts val="100"/>
              </a:spcBef>
            </a:pP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Detected</a:t>
            </a:r>
            <a:r>
              <a:rPr dirty="0" sz="1750" spc="-10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recurring</a:t>
            </a:r>
            <a:r>
              <a:rPr dirty="0" sz="1750" spc="-100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4B4A4A"/>
                </a:solidFill>
                <a:latin typeface="Arial"/>
                <a:cs typeface="Arial"/>
              </a:rPr>
              <a:t>seasonality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and</a:t>
            </a:r>
            <a:r>
              <a:rPr dirty="0" sz="1750" spc="-5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a</a:t>
            </a:r>
            <a:r>
              <a:rPr dirty="0" sz="1750" spc="-50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prominent</a:t>
            </a:r>
            <a:r>
              <a:rPr dirty="0" sz="1750" spc="-50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peak</a:t>
            </a:r>
            <a:r>
              <a:rPr dirty="0" sz="1750" spc="-50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 spc="-20">
                <a:solidFill>
                  <a:srgbClr val="4B4A4A"/>
                </a:solidFill>
                <a:latin typeface="Arial"/>
                <a:cs typeface="Arial"/>
              </a:rPr>
              <a:t>month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for</a:t>
            </a:r>
            <a:r>
              <a:rPr dirty="0" sz="1750" spc="-60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inventory</a:t>
            </a:r>
            <a:r>
              <a:rPr dirty="0" sz="1750" spc="-60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4B4A4A"/>
                </a:solidFill>
                <a:latin typeface="Arial"/>
                <a:cs typeface="Arial"/>
              </a:rPr>
              <a:t>planning.</a:t>
            </a:r>
            <a:endParaRPr sz="1750">
              <a:latin typeface="Arial"/>
              <a:cs typeface="Arial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788497" y="2788920"/>
            <a:ext cx="1767840" cy="1092517"/>
          </a:xfrm>
          <a:prstGeom prst="rect">
            <a:avLst/>
          </a:prstGeom>
        </p:spPr>
      </p:pic>
      <p:sp>
        <p:nvSpPr>
          <p:cNvPr id="12" name="object 12" descr=""/>
          <p:cNvSpPr txBox="1"/>
          <p:nvPr/>
        </p:nvSpPr>
        <p:spPr>
          <a:xfrm>
            <a:off x="10775797" y="4160291"/>
            <a:ext cx="3048000" cy="19437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793115">
              <a:lnSpc>
                <a:spcPts val="2750"/>
              </a:lnSpc>
              <a:spcBef>
                <a:spcPts val="100"/>
              </a:spcBef>
            </a:pPr>
            <a:r>
              <a:rPr dirty="0" sz="2200" b="1">
                <a:solidFill>
                  <a:srgbClr val="4B4A4A"/>
                </a:solidFill>
                <a:latin typeface="Arial"/>
                <a:cs typeface="Arial"/>
              </a:rPr>
              <a:t>Payment</a:t>
            </a:r>
            <a:r>
              <a:rPr dirty="0" sz="2200" spc="-100" b="1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2200" spc="-10" b="1">
                <a:solidFill>
                  <a:srgbClr val="4B4A4A"/>
                </a:solidFill>
                <a:latin typeface="Arial"/>
                <a:cs typeface="Arial"/>
              </a:rPr>
              <a:t>Method Analysis</a:t>
            </a:r>
            <a:endParaRPr sz="2200">
              <a:latin typeface="Arial"/>
              <a:cs typeface="Arial"/>
            </a:endParaRPr>
          </a:p>
          <a:p>
            <a:pPr marL="12700" marR="5080">
              <a:lnSpc>
                <a:spcPct val="135700"/>
              </a:lnSpc>
              <a:spcBef>
                <a:spcPts val="1050"/>
              </a:spcBef>
            </a:pPr>
            <a:r>
              <a:rPr dirty="0" sz="1750" spc="-10">
                <a:solidFill>
                  <a:srgbClr val="4B4A4A"/>
                </a:solidFill>
                <a:latin typeface="Arial"/>
                <a:cs typeface="Arial"/>
              </a:rPr>
              <a:t>Credit/debit</a:t>
            </a:r>
            <a:r>
              <a:rPr dirty="0" sz="1750" spc="-30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cards</a:t>
            </a:r>
            <a:r>
              <a:rPr dirty="0" sz="1750" spc="-30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4B4A4A"/>
                </a:solidFill>
                <a:latin typeface="Arial"/>
                <a:cs typeface="Arial"/>
              </a:rPr>
              <a:t>dominate;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digital</a:t>
            </a:r>
            <a:r>
              <a:rPr dirty="0" sz="1750" spc="-80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wallets</a:t>
            </a:r>
            <a:r>
              <a:rPr dirty="0" sz="1750" spc="-7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growing</a:t>
            </a:r>
            <a:r>
              <a:rPr dirty="0" sz="1750" spc="-80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 spc="-50">
                <a:solidFill>
                  <a:srgbClr val="4B4A4A"/>
                </a:solidFill>
                <a:latin typeface="Arial"/>
                <a:cs typeface="Arial"/>
              </a:rPr>
              <a:t>—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impacts</a:t>
            </a:r>
            <a:r>
              <a:rPr dirty="0" sz="1750" spc="-9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checkout</a:t>
            </a:r>
            <a:r>
              <a:rPr dirty="0" sz="1750" spc="-90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4B4A4A"/>
                </a:solidFill>
                <a:latin typeface="Arial"/>
                <a:cs typeface="Arial"/>
              </a:rPr>
              <a:t>optimization.</a:t>
            </a:r>
            <a:endParaRPr sz="17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39192" y="7749540"/>
            <a:ext cx="1722602" cy="41147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267487" y="1648879"/>
            <a:ext cx="5984240" cy="5664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SQL</a:t>
            </a:r>
            <a:r>
              <a:rPr dirty="0" spc="-40"/>
              <a:t> </a:t>
            </a:r>
            <a:r>
              <a:rPr dirty="0"/>
              <a:t>&amp;</a:t>
            </a:r>
            <a:r>
              <a:rPr dirty="0" spc="-40"/>
              <a:t> </a:t>
            </a:r>
            <a:r>
              <a:rPr dirty="0"/>
              <a:t>Database</a:t>
            </a:r>
            <a:r>
              <a:rPr dirty="0" spc="-40"/>
              <a:t> </a:t>
            </a:r>
            <a:r>
              <a:rPr dirty="0" spc="-10"/>
              <a:t>Integration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6267487" y="2776308"/>
            <a:ext cx="128206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10" b="1">
                <a:solidFill>
                  <a:srgbClr val="006646"/>
                </a:solidFill>
                <a:latin typeface="Arial"/>
                <a:cs typeface="Arial"/>
              </a:rPr>
              <a:t>Workflow</a:t>
            </a:r>
            <a:endParaRPr sz="22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6267487" y="3344684"/>
            <a:ext cx="3272154" cy="1473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5700"/>
              </a:lnSpc>
              <a:spcBef>
                <a:spcPts val="100"/>
              </a:spcBef>
            </a:pP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Connected</a:t>
            </a:r>
            <a:r>
              <a:rPr dirty="0" sz="1750" spc="-80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Python</a:t>
            </a:r>
            <a:r>
              <a:rPr dirty="0" sz="1750" spc="-6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ETL</a:t>
            </a:r>
            <a:r>
              <a:rPr dirty="0" sz="1750" spc="-6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scripts</a:t>
            </a:r>
            <a:r>
              <a:rPr dirty="0" sz="1750" spc="-6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 spc="-35">
                <a:solidFill>
                  <a:srgbClr val="4B4A4A"/>
                </a:solidFill>
                <a:latin typeface="Arial"/>
                <a:cs typeface="Arial"/>
              </a:rPr>
              <a:t>to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PostgreSQL,</a:t>
            </a:r>
            <a:r>
              <a:rPr dirty="0" sz="1750" spc="-100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loaded</a:t>
            </a:r>
            <a:r>
              <a:rPr dirty="0" sz="1750" spc="-100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4B4A4A"/>
                </a:solidFill>
                <a:latin typeface="Arial"/>
                <a:cs typeface="Arial"/>
              </a:rPr>
              <a:t>cleaned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tables,</a:t>
            </a:r>
            <a:r>
              <a:rPr dirty="0" sz="1750" spc="-6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and</a:t>
            </a:r>
            <a:r>
              <a:rPr dirty="0" sz="1750" spc="-6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created</a:t>
            </a:r>
            <a:r>
              <a:rPr dirty="0" sz="1750" spc="-6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indexes</a:t>
            </a:r>
            <a:r>
              <a:rPr dirty="0" sz="1750" spc="-6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 spc="-25">
                <a:solidFill>
                  <a:srgbClr val="4B4A4A"/>
                </a:solidFill>
                <a:latin typeface="Arial"/>
                <a:cs typeface="Arial"/>
              </a:rPr>
              <a:t>for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efficient</a:t>
            </a:r>
            <a:r>
              <a:rPr dirty="0" sz="1750" spc="-9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4B4A4A"/>
                </a:solidFill>
                <a:latin typeface="Arial"/>
                <a:cs typeface="Arial"/>
              </a:rPr>
              <a:t>querying.</a:t>
            </a:r>
            <a:endParaRPr sz="175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0330015" y="2776308"/>
            <a:ext cx="3144520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10" b="1">
                <a:solidFill>
                  <a:srgbClr val="006646"/>
                </a:solidFill>
                <a:latin typeface="Arial"/>
                <a:cs typeface="Arial"/>
              </a:rPr>
              <a:t>Representative</a:t>
            </a:r>
            <a:r>
              <a:rPr dirty="0" sz="2200" spc="-70" b="1">
                <a:solidFill>
                  <a:srgbClr val="006646"/>
                </a:solidFill>
                <a:latin typeface="Arial"/>
                <a:cs typeface="Arial"/>
              </a:rPr>
              <a:t> </a:t>
            </a:r>
            <a:r>
              <a:rPr dirty="0" sz="2200" spc="-10" b="1">
                <a:solidFill>
                  <a:srgbClr val="006646"/>
                </a:solidFill>
                <a:latin typeface="Arial"/>
                <a:cs typeface="Arial"/>
              </a:rPr>
              <a:t>Queries</a:t>
            </a:r>
            <a:endParaRPr sz="220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0330015" y="3344684"/>
            <a:ext cx="3270885" cy="2921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16510" indent="-342900">
              <a:lnSpc>
                <a:spcPct val="135700"/>
              </a:lnSpc>
              <a:spcBef>
                <a:spcPts val="100"/>
              </a:spcBef>
              <a:buChar char="•"/>
              <a:tabLst>
                <a:tab pos="355600" algn="l"/>
              </a:tabLst>
            </a:pP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Total</a:t>
            </a:r>
            <a:r>
              <a:rPr dirty="0" sz="1750" spc="-4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sales</a:t>
            </a:r>
            <a:r>
              <a:rPr dirty="0" sz="1750" spc="-40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and</a:t>
            </a:r>
            <a:r>
              <a:rPr dirty="0" sz="1750" spc="-40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daily</a:t>
            </a:r>
            <a:r>
              <a:rPr dirty="0" sz="1750" spc="-4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4B4A4A"/>
                </a:solidFill>
                <a:latin typeface="Arial"/>
                <a:cs typeface="Arial"/>
              </a:rPr>
              <a:t>revenue trend</a:t>
            </a:r>
            <a:endParaRPr sz="1750">
              <a:latin typeface="Arial"/>
              <a:cs typeface="Arial"/>
            </a:endParaRPr>
          </a:p>
          <a:p>
            <a:pPr marL="355600" marR="5080" indent="-342900">
              <a:lnSpc>
                <a:spcPct val="135700"/>
              </a:lnSpc>
              <a:buChar char="•"/>
              <a:tabLst>
                <a:tab pos="355600" algn="l"/>
              </a:tabLst>
            </a:pP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Average</a:t>
            </a:r>
            <a:r>
              <a:rPr dirty="0" sz="1750" spc="-90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purchase</a:t>
            </a:r>
            <a:r>
              <a:rPr dirty="0" sz="1750" spc="-90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amount</a:t>
            </a:r>
            <a:r>
              <a:rPr dirty="0" sz="1750" spc="-90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 spc="-25">
                <a:solidFill>
                  <a:srgbClr val="4B4A4A"/>
                </a:solidFill>
                <a:latin typeface="Arial"/>
                <a:cs typeface="Arial"/>
              </a:rPr>
              <a:t>by </a:t>
            </a:r>
            <a:r>
              <a:rPr dirty="0" sz="1750" spc="-10">
                <a:solidFill>
                  <a:srgbClr val="4B4A4A"/>
                </a:solidFill>
                <a:latin typeface="Arial"/>
                <a:cs typeface="Arial"/>
              </a:rPr>
              <a:t>segment</a:t>
            </a:r>
            <a:endParaRPr sz="1750">
              <a:latin typeface="Arial"/>
              <a:cs typeface="Arial"/>
            </a:endParaRPr>
          </a:p>
          <a:p>
            <a:pPr marL="355600" marR="17145" indent="-342900">
              <a:lnSpc>
                <a:spcPct val="135700"/>
              </a:lnSpc>
              <a:buChar char="•"/>
              <a:tabLst>
                <a:tab pos="355600" algn="l"/>
              </a:tabLst>
            </a:pP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Top</a:t>
            </a:r>
            <a:r>
              <a:rPr dirty="0" sz="1750" spc="-60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products</a:t>
            </a:r>
            <a:r>
              <a:rPr dirty="0" sz="1750" spc="-60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by</a:t>
            </a:r>
            <a:r>
              <a:rPr dirty="0" sz="1750" spc="-60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revenue</a:t>
            </a:r>
            <a:r>
              <a:rPr dirty="0" sz="1750" spc="-60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 spc="-25">
                <a:solidFill>
                  <a:srgbClr val="4B4A4A"/>
                </a:solidFill>
                <a:latin typeface="Arial"/>
                <a:cs typeface="Arial"/>
              </a:rPr>
              <a:t>and </a:t>
            </a:r>
            <a:r>
              <a:rPr dirty="0" sz="1750" spc="-10">
                <a:solidFill>
                  <a:srgbClr val="4B4A4A"/>
                </a:solidFill>
                <a:latin typeface="Arial"/>
                <a:cs typeface="Arial"/>
              </a:rPr>
              <a:t>volume</a:t>
            </a:r>
            <a:endParaRPr sz="1750">
              <a:latin typeface="Arial"/>
              <a:cs typeface="Arial"/>
            </a:endParaRPr>
          </a:p>
          <a:p>
            <a:pPr marL="355600" marR="227965" indent="-342900">
              <a:lnSpc>
                <a:spcPct val="135700"/>
              </a:lnSpc>
              <a:buChar char="•"/>
              <a:tabLst>
                <a:tab pos="355600" algn="l"/>
              </a:tabLst>
            </a:pP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Customer</a:t>
            </a:r>
            <a:r>
              <a:rPr dirty="0" sz="1750" spc="-6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4B4A4A"/>
                </a:solidFill>
                <a:latin typeface="Arial"/>
                <a:cs typeface="Arial"/>
              </a:rPr>
              <a:t>segmentation</a:t>
            </a:r>
            <a:r>
              <a:rPr dirty="0" sz="1750" spc="-60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 spc="-25">
                <a:solidFill>
                  <a:srgbClr val="4B4A4A"/>
                </a:solidFill>
                <a:latin typeface="Arial"/>
                <a:cs typeface="Arial"/>
              </a:rPr>
              <a:t>for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targeted</a:t>
            </a:r>
            <a:r>
              <a:rPr dirty="0" sz="1750" spc="-90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4B4A4A"/>
                </a:solidFill>
                <a:latin typeface="Arial"/>
                <a:cs typeface="Arial"/>
              </a:rPr>
              <a:t>campaigns</a:t>
            </a:r>
            <a:endParaRPr sz="17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39192" y="7749540"/>
            <a:ext cx="1722602" cy="41147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267487" y="738770"/>
            <a:ext cx="6585584" cy="5664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Dashboard</a:t>
            </a:r>
            <a:r>
              <a:rPr dirty="0" spc="-80"/>
              <a:t> </a:t>
            </a:r>
            <a:r>
              <a:rPr dirty="0"/>
              <a:t>Insights</a:t>
            </a:r>
            <a:r>
              <a:rPr dirty="0" spc="-80"/>
              <a:t> </a:t>
            </a:r>
            <a:r>
              <a:rPr dirty="0"/>
              <a:t>(Power</a:t>
            </a:r>
            <a:r>
              <a:rPr dirty="0" spc="-75"/>
              <a:t> </a:t>
            </a:r>
            <a:r>
              <a:rPr dirty="0" spc="-25"/>
              <a:t>BI)</a:t>
            </a:r>
          </a:p>
        </p:txBody>
      </p:sp>
      <p:grpSp>
        <p:nvGrpSpPr>
          <p:cNvPr id="5" name="object 5" descr=""/>
          <p:cNvGrpSpPr/>
          <p:nvPr/>
        </p:nvGrpSpPr>
        <p:grpSpPr>
          <a:xfrm>
            <a:off x="6264948" y="1628775"/>
            <a:ext cx="2398395" cy="3921760"/>
            <a:chOff x="6264948" y="1628775"/>
            <a:chExt cx="2398395" cy="3921760"/>
          </a:xfrm>
        </p:grpSpPr>
        <p:sp>
          <p:nvSpPr>
            <p:cNvPr id="6" name="object 6" descr=""/>
            <p:cNvSpPr/>
            <p:nvPr/>
          </p:nvSpPr>
          <p:spPr>
            <a:xfrm>
              <a:off x="6280188" y="1644015"/>
              <a:ext cx="2367915" cy="3891279"/>
            </a:xfrm>
            <a:custGeom>
              <a:avLst/>
              <a:gdLst/>
              <a:ahLst/>
              <a:cxnLst/>
              <a:rect l="l" t="t" r="r" b="b"/>
              <a:pathLst>
                <a:path w="2367915" h="3891279">
                  <a:moveTo>
                    <a:pt x="2163406" y="0"/>
                  </a:moveTo>
                  <a:lnTo>
                    <a:pt x="204153" y="0"/>
                  </a:lnTo>
                  <a:lnTo>
                    <a:pt x="157581" y="5431"/>
                  </a:lnTo>
                  <a:lnTo>
                    <a:pt x="114702" y="20883"/>
                  </a:lnTo>
                  <a:lnTo>
                    <a:pt x="76783" y="45089"/>
                  </a:lnTo>
                  <a:lnTo>
                    <a:pt x="45088" y="76785"/>
                  </a:lnTo>
                  <a:lnTo>
                    <a:pt x="20882" y="114704"/>
                  </a:lnTo>
                  <a:lnTo>
                    <a:pt x="5431" y="157582"/>
                  </a:lnTo>
                  <a:lnTo>
                    <a:pt x="0" y="204152"/>
                  </a:lnTo>
                  <a:lnTo>
                    <a:pt x="0" y="3686924"/>
                  </a:lnTo>
                  <a:lnTo>
                    <a:pt x="5431" y="3733498"/>
                  </a:lnTo>
                  <a:lnTo>
                    <a:pt x="20882" y="3776377"/>
                  </a:lnTo>
                  <a:lnTo>
                    <a:pt x="45088" y="3814296"/>
                  </a:lnTo>
                  <a:lnTo>
                    <a:pt x="76783" y="3845990"/>
                  </a:lnTo>
                  <a:lnTo>
                    <a:pt x="114702" y="3870195"/>
                  </a:lnTo>
                  <a:lnTo>
                    <a:pt x="157581" y="3885645"/>
                  </a:lnTo>
                  <a:lnTo>
                    <a:pt x="204153" y="3891076"/>
                  </a:lnTo>
                  <a:lnTo>
                    <a:pt x="2163406" y="3891076"/>
                  </a:lnTo>
                  <a:lnTo>
                    <a:pt x="2209977" y="3885645"/>
                  </a:lnTo>
                  <a:lnTo>
                    <a:pt x="2252854" y="3870195"/>
                  </a:lnTo>
                  <a:lnTo>
                    <a:pt x="2290774" y="3845990"/>
                  </a:lnTo>
                  <a:lnTo>
                    <a:pt x="2322469" y="3814296"/>
                  </a:lnTo>
                  <a:lnTo>
                    <a:pt x="2346675" y="3776377"/>
                  </a:lnTo>
                  <a:lnTo>
                    <a:pt x="2362127" y="3733498"/>
                  </a:lnTo>
                  <a:lnTo>
                    <a:pt x="2367559" y="3686924"/>
                  </a:lnTo>
                  <a:lnTo>
                    <a:pt x="2367559" y="204152"/>
                  </a:lnTo>
                  <a:lnTo>
                    <a:pt x="2362127" y="157582"/>
                  </a:lnTo>
                  <a:lnTo>
                    <a:pt x="2346675" y="114704"/>
                  </a:lnTo>
                  <a:lnTo>
                    <a:pt x="2322469" y="76785"/>
                  </a:lnTo>
                  <a:lnTo>
                    <a:pt x="2290774" y="45089"/>
                  </a:lnTo>
                  <a:lnTo>
                    <a:pt x="2252854" y="20883"/>
                  </a:lnTo>
                  <a:lnTo>
                    <a:pt x="2209977" y="5431"/>
                  </a:lnTo>
                  <a:lnTo>
                    <a:pt x="2163406" y="0"/>
                  </a:lnTo>
                  <a:close/>
                </a:path>
              </a:pathLst>
            </a:custGeom>
            <a:solidFill>
              <a:srgbClr val="E5F8F2">
                <a:alpha val="949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6280188" y="1644015"/>
              <a:ext cx="2367915" cy="3891279"/>
            </a:xfrm>
            <a:custGeom>
              <a:avLst/>
              <a:gdLst/>
              <a:ahLst/>
              <a:cxnLst/>
              <a:rect l="l" t="t" r="r" b="b"/>
              <a:pathLst>
                <a:path w="2367915" h="3891279">
                  <a:moveTo>
                    <a:pt x="0" y="204152"/>
                  </a:moveTo>
                  <a:lnTo>
                    <a:pt x="5431" y="157582"/>
                  </a:lnTo>
                  <a:lnTo>
                    <a:pt x="20882" y="114704"/>
                  </a:lnTo>
                  <a:lnTo>
                    <a:pt x="45088" y="76785"/>
                  </a:lnTo>
                  <a:lnTo>
                    <a:pt x="76783" y="45089"/>
                  </a:lnTo>
                  <a:lnTo>
                    <a:pt x="114702" y="20883"/>
                  </a:lnTo>
                  <a:lnTo>
                    <a:pt x="157581" y="5431"/>
                  </a:lnTo>
                  <a:lnTo>
                    <a:pt x="204153" y="0"/>
                  </a:lnTo>
                  <a:lnTo>
                    <a:pt x="2163406" y="0"/>
                  </a:lnTo>
                  <a:lnTo>
                    <a:pt x="2209977" y="5431"/>
                  </a:lnTo>
                  <a:lnTo>
                    <a:pt x="2252854" y="20883"/>
                  </a:lnTo>
                  <a:lnTo>
                    <a:pt x="2290774" y="45089"/>
                  </a:lnTo>
                  <a:lnTo>
                    <a:pt x="2322469" y="76785"/>
                  </a:lnTo>
                  <a:lnTo>
                    <a:pt x="2346675" y="114704"/>
                  </a:lnTo>
                  <a:lnTo>
                    <a:pt x="2362127" y="157582"/>
                  </a:lnTo>
                  <a:lnTo>
                    <a:pt x="2367559" y="204152"/>
                  </a:lnTo>
                  <a:lnTo>
                    <a:pt x="2367559" y="3686924"/>
                  </a:lnTo>
                  <a:lnTo>
                    <a:pt x="2362127" y="3733498"/>
                  </a:lnTo>
                  <a:lnTo>
                    <a:pt x="2346675" y="3776377"/>
                  </a:lnTo>
                  <a:lnTo>
                    <a:pt x="2322469" y="3814296"/>
                  </a:lnTo>
                  <a:lnTo>
                    <a:pt x="2290774" y="3845990"/>
                  </a:lnTo>
                  <a:lnTo>
                    <a:pt x="2252854" y="3870195"/>
                  </a:lnTo>
                  <a:lnTo>
                    <a:pt x="2209977" y="3885645"/>
                  </a:lnTo>
                  <a:lnTo>
                    <a:pt x="2163406" y="3891076"/>
                  </a:lnTo>
                  <a:lnTo>
                    <a:pt x="204153" y="3891076"/>
                  </a:lnTo>
                  <a:lnTo>
                    <a:pt x="157581" y="3885645"/>
                  </a:lnTo>
                  <a:lnTo>
                    <a:pt x="114702" y="3870195"/>
                  </a:lnTo>
                  <a:lnTo>
                    <a:pt x="76783" y="3845990"/>
                  </a:lnTo>
                  <a:lnTo>
                    <a:pt x="45088" y="3814296"/>
                  </a:lnTo>
                  <a:lnTo>
                    <a:pt x="20882" y="3776377"/>
                  </a:lnTo>
                  <a:lnTo>
                    <a:pt x="5431" y="3733498"/>
                  </a:lnTo>
                  <a:lnTo>
                    <a:pt x="0" y="3686924"/>
                  </a:lnTo>
                  <a:lnTo>
                    <a:pt x="0" y="204152"/>
                  </a:lnTo>
                  <a:close/>
                </a:path>
              </a:pathLst>
            </a:custGeom>
            <a:ln w="30479">
              <a:solidFill>
                <a:srgbClr val="B7D4C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6524777" y="1896668"/>
            <a:ext cx="1815464" cy="30295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87630">
              <a:lnSpc>
                <a:spcPts val="2750"/>
              </a:lnSpc>
              <a:spcBef>
                <a:spcPts val="100"/>
              </a:spcBef>
            </a:pPr>
            <a:r>
              <a:rPr dirty="0" sz="2200" spc="-10" b="1">
                <a:solidFill>
                  <a:srgbClr val="4B4A4A"/>
                </a:solidFill>
                <a:latin typeface="Arial"/>
                <a:cs typeface="Arial"/>
              </a:rPr>
              <a:t>Total </a:t>
            </a:r>
            <a:r>
              <a:rPr dirty="0" sz="2200" b="1">
                <a:solidFill>
                  <a:srgbClr val="4B4A4A"/>
                </a:solidFill>
                <a:latin typeface="Arial"/>
                <a:cs typeface="Arial"/>
              </a:rPr>
              <a:t>Revenue</a:t>
            </a:r>
            <a:r>
              <a:rPr dirty="0" sz="2200" spc="-114" b="1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2200" spc="-25" b="1">
                <a:solidFill>
                  <a:srgbClr val="4B4A4A"/>
                </a:solidFill>
                <a:latin typeface="Arial"/>
                <a:cs typeface="Arial"/>
              </a:rPr>
              <a:t>KPI</a:t>
            </a:r>
            <a:endParaRPr sz="2200">
              <a:latin typeface="Arial"/>
              <a:cs typeface="Arial"/>
            </a:endParaRPr>
          </a:p>
          <a:p>
            <a:pPr marL="12700" marR="5080">
              <a:lnSpc>
                <a:spcPct val="135700"/>
              </a:lnSpc>
              <a:spcBef>
                <a:spcPts val="1050"/>
              </a:spcBef>
            </a:pPr>
            <a:r>
              <a:rPr dirty="0" sz="1750" spc="-20">
                <a:solidFill>
                  <a:srgbClr val="4B4A4A"/>
                </a:solidFill>
                <a:latin typeface="Arial"/>
                <a:cs typeface="Arial"/>
              </a:rPr>
              <a:t>Real-time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revenue,</a:t>
            </a:r>
            <a:r>
              <a:rPr dirty="0" sz="1750" spc="-10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4B4A4A"/>
                </a:solidFill>
                <a:latin typeface="Arial"/>
                <a:cs typeface="Arial"/>
              </a:rPr>
              <a:t>month- </a:t>
            </a:r>
            <a:r>
              <a:rPr dirty="0" sz="1750" spc="-20">
                <a:solidFill>
                  <a:srgbClr val="4B4A4A"/>
                </a:solidFill>
                <a:latin typeface="Arial"/>
                <a:cs typeface="Arial"/>
              </a:rPr>
              <a:t>over-month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growth,</a:t>
            </a:r>
            <a:r>
              <a:rPr dirty="0" sz="1750" spc="-6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and</a:t>
            </a:r>
            <a:r>
              <a:rPr dirty="0" sz="1750" spc="-60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4B4A4A"/>
                </a:solidFill>
                <a:latin typeface="Arial"/>
                <a:cs typeface="Arial"/>
              </a:rPr>
              <a:t>target attainment indicators.</a:t>
            </a:r>
            <a:endParaRPr sz="1750">
              <a:latin typeface="Arial"/>
              <a:cs typeface="Arial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8859316" y="1628775"/>
            <a:ext cx="2398395" cy="3921760"/>
            <a:chOff x="8859316" y="1628775"/>
            <a:chExt cx="2398395" cy="3921760"/>
          </a:xfrm>
        </p:grpSpPr>
        <p:sp>
          <p:nvSpPr>
            <p:cNvPr id="10" name="object 10" descr=""/>
            <p:cNvSpPr/>
            <p:nvPr/>
          </p:nvSpPr>
          <p:spPr>
            <a:xfrm>
              <a:off x="8874556" y="1644015"/>
              <a:ext cx="2367915" cy="3891279"/>
            </a:xfrm>
            <a:custGeom>
              <a:avLst/>
              <a:gdLst/>
              <a:ahLst/>
              <a:cxnLst/>
              <a:rect l="l" t="t" r="r" b="b"/>
              <a:pathLst>
                <a:path w="2367915" h="3891279">
                  <a:moveTo>
                    <a:pt x="2163406" y="0"/>
                  </a:moveTo>
                  <a:lnTo>
                    <a:pt x="204153" y="0"/>
                  </a:lnTo>
                  <a:lnTo>
                    <a:pt x="157581" y="5431"/>
                  </a:lnTo>
                  <a:lnTo>
                    <a:pt x="114702" y="20883"/>
                  </a:lnTo>
                  <a:lnTo>
                    <a:pt x="76783" y="45089"/>
                  </a:lnTo>
                  <a:lnTo>
                    <a:pt x="45088" y="76785"/>
                  </a:lnTo>
                  <a:lnTo>
                    <a:pt x="20882" y="114704"/>
                  </a:lnTo>
                  <a:lnTo>
                    <a:pt x="5431" y="157582"/>
                  </a:lnTo>
                  <a:lnTo>
                    <a:pt x="0" y="204152"/>
                  </a:lnTo>
                  <a:lnTo>
                    <a:pt x="0" y="3686924"/>
                  </a:lnTo>
                  <a:lnTo>
                    <a:pt x="5431" y="3733498"/>
                  </a:lnTo>
                  <a:lnTo>
                    <a:pt x="20882" y="3776377"/>
                  </a:lnTo>
                  <a:lnTo>
                    <a:pt x="45088" y="3814296"/>
                  </a:lnTo>
                  <a:lnTo>
                    <a:pt x="76783" y="3845990"/>
                  </a:lnTo>
                  <a:lnTo>
                    <a:pt x="114702" y="3870195"/>
                  </a:lnTo>
                  <a:lnTo>
                    <a:pt x="157581" y="3885645"/>
                  </a:lnTo>
                  <a:lnTo>
                    <a:pt x="204153" y="3891076"/>
                  </a:lnTo>
                  <a:lnTo>
                    <a:pt x="2163406" y="3891076"/>
                  </a:lnTo>
                  <a:lnTo>
                    <a:pt x="2209977" y="3885645"/>
                  </a:lnTo>
                  <a:lnTo>
                    <a:pt x="2252854" y="3870195"/>
                  </a:lnTo>
                  <a:lnTo>
                    <a:pt x="2290774" y="3845990"/>
                  </a:lnTo>
                  <a:lnTo>
                    <a:pt x="2322469" y="3814296"/>
                  </a:lnTo>
                  <a:lnTo>
                    <a:pt x="2346675" y="3776377"/>
                  </a:lnTo>
                  <a:lnTo>
                    <a:pt x="2362127" y="3733498"/>
                  </a:lnTo>
                  <a:lnTo>
                    <a:pt x="2367559" y="3686924"/>
                  </a:lnTo>
                  <a:lnTo>
                    <a:pt x="2367559" y="204152"/>
                  </a:lnTo>
                  <a:lnTo>
                    <a:pt x="2362127" y="157582"/>
                  </a:lnTo>
                  <a:lnTo>
                    <a:pt x="2346675" y="114704"/>
                  </a:lnTo>
                  <a:lnTo>
                    <a:pt x="2322469" y="76785"/>
                  </a:lnTo>
                  <a:lnTo>
                    <a:pt x="2290774" y="45089"/>
                  </a:lnTo>
                  <a:lnTo>
                    <a:pt x="2252854" y="20883"/>
                  </a:lnTo>
                  <a:lnTo>
                    <a:pt x="2209977" y="5431"/>
                  </a:lnTo>
                  <a:lnTo>
                    <a:pt x="2163406" y="0"/>
                  </a:lnTo>
                  <a:close/>
                </a:path>
              </a:pathLst>
            </a:custGeom>
            <a:solidFill>
              <a:srgbClr val="E5F8F2">
                <a:alpha val="949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8874556" y="1644015"/>
              <a:ext cx="2367915" cy="3891279"/>
            </a:xfrm>
            <a:custGeom>
              <a:avLst/>
              <a:gdLst/>
              <a:ahLst/>
              <a:cxnLst/>
              <a:rect l="l" t="t" r="r" b="b"/>
              <a:pathLst>
                <a:path w="2367915" h="3891279">
                  <a:moveTo>
                    <a:pt x="0" y="204152"/>
                  </a:moveTo>
                  <a:lnTo>
                    <a:pt x="5431" y="157582"/>
                  </a:lnTo>
                  <a:lnTo>
                    <a:pt x="20882" y="114704"/>
                  </a:lnTo>
                  <a:lnTo>
                    <a:pt x="45088" y="76785"/>
                  </a:lnTo>
                  <a:lnTo>
                    <a:pt x="76783" y="45089"/>
                  </a:lnTo>
                  <a:lnTo>
                    <a:pt x="114702" y="20883"/>
                  </a:lnTo>
                  <a:lnTo>
                    <a:pt x="157581" y="5431"/>
                  </a:lnTo>
                  <a:lnTo>
                    <a:pt x="204153" y="0"/>
                  </a:lnTo>
                  <a:lnTo>
                    <a:pt x="2163406" y="0"/>
                  </a:lnTo>
                  <a:lnTo>
                    <a:pt x="2209977" y="5431"/>
                  </a:lnTo>
                  <a:lnTo>
                    <a:pt x="2252854" y="20883"/>
                  </a:lnTo>
                  <a:lnTo>
                    <a:pt x="2290774" y="45089"/>
                  </a:lnTo>
                  <a:lnTo>
                    <a:pt x="2322469" y="76785"/>
                  </a:lnTo>
                  <a:lnTo>
                    <a:pt x="2346675" y="114704"/>
                  </a:lnTo>
                  <a:lnTo>
                    <a:pt x="2362127" y="157582"/>
                  </a:lnTo>
                  <a:lnTo>
                    <a:pt x="2367559" y="204152"/>
                  </a:lnTo>
                  <a:lnTo>
                    <a:pt x="2367559" y="3686924"/>
                  </a:lnTo>
                  <a:lnTo>
                    <a:pt x="2362127" y="3733498"/>
                  </a:lnTo>
                  <a:lnTo>
                    <a:pt x="2346675" y="3776377"/>
                  </a:lnTo>
                  <a:lnTo>
                    <a:pt x="2322469" y="3814296"/>
                  </a:lnTo>
                  <a:lnTo>
                    <a:pt x="2290774" y="3845990"/>
                  </a:lnTo>
                  <a:lnTo>
                    <a:pt x="2252854" y="3870195"/>
                  </a:lnTo>
                  <a:lnTo>
                    <a:pt x="2209977" y="3885645"/>
                  </a:lnTo>
                  <a:lnTo>
                    <a:pt x="2163406" y="3891076"/>
                  </a:lnTo>
                  <a:lnTo>
                    <a:pt x="204153" y="3891076"/>
                  </a:lnTo>
                  <a:lnTo>
                    <a:pt x="157581" y="3885645"/>
                  </a:lnTo>
                  <a:lnTo>
                    <a:pt x="114702" y="3870195"/>
                  </a:lnTo>
                  <a:lnTo>
                    <a:pt x="76783" y="3845990"/>
                  </a:lnTo>
                  <a:lnTo>
                    <a:pt x="45088" y="3814296"/>
                  </a:lnTo>
                  <a:lnTo>
                    <a:pt x="20882" y="3776377"/>
                  </a:lnTo>
                  <a:lnTo>
                    <a:pt x="5431" y="3733498"/>
                  </a:lnTo>
                  <a:lnTo>
                    <a:pt x="0" y="3686924"/>
                  </a:lnTo>
                  <a:lnTo>
                    <a:pt x="0" y="204152"/>
                  </a:lnTo>
                  <a:close/>
                </a:path>
              </a:pathLst>
            </a:custGeom>
            <a:ln w="30479">
              <a:solidFill>
                <a:srgbClr val="B7D4C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9119158" y="1896668"/>
            <a:ext cx="1732280" cy="7099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ts val="2750"/>
              </a:lnSpc>
              <a:spcBef>
                <a:spcPts val="90"/>
              </a:spcBef>
            </a:pPr>
            <a:r>
              <a:rPr dirty="0" sz="2200" spc="-10" b="1">
                <a:solidFill>
                  <a:srgbClr val="4B4A4A"/>
                </a:solidFill>
                <a:latin typeface="Arial"/>
                <a:cs typeface="Arial"/>
              </a:rPr>
              <a:t>Category Performance</a:t>
            </a:r>
            <a:endParaRPr sz="2200">
              <a:latin typeface="Arial"/>
              <a:cs typeface="Arial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9119158" y="3082988"/>
            <a:ext cx="1680210" cy="2197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5700"/>
              </a:lnSpc>
              <a:spcBef>
                <a:spcPts val="100"/>
              </a:spcBef>
            </a:pPr>
            <a:r>
              <a:rPr dirty="0" sz="1750" spc="-20">
                <a:solidFill>
                  <a:srgbClr val="4B4A4A"/>
                </a:solidFill>
                <a:latin typeface="Arial"/>
                <a:cs typeface="Arial"/>
              </a:rPr>
              <a:t>Category-wise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revenue</a:t>
            </a:r>
            <a:r>
              <a:rPr dirty="0" sz="1750" spc="-70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and</a:t>
            </a:r>
            <a:r>
              <a:rPr dirty="0" sz="1750" spc="-6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 spc="-20">
                <a:solidFill>
                  <a:srgbClr val="4B4A4A"/>
                </a:solidFill>
                <a:latin typeface="Arial"/>
                <a:cs typeface="Arial"/>
              </a:rPr>
              <a:t>unit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sales</a:t>
            </a:r>
            <a:r>
              <a:rPr dirty="0" sz="1750" spc="-3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with</a:t>
            </a:r>
            <a:r>
              <a:rPr dirty="0" sz="1750" spc="-30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4B4A4A"/>
                </a:solidFill>
                <a:latin typeface="Arial"/>
                <a:cs typeface="Arial"/>
              </a:rPr>
              <a:t>drill-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through</a:t>
            </a:r>
            <a:r>
              <a:rPr dirty="0" sz="1750" spc="-8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 spc="-25">
                <a:solidFill>
                  <a:srgbClr val="4B4A4A"/>
                </a:solidFill>
                <a:latin typeface="Arial"/>
                <a:cs typeface="Arial"/>
              </a:rPr>
              <a:t>to </a:t>
            </a:r>
            <a:r>
              <a:rPr dirty="0" sz="1750" spc="-20">
                <a:solidFill>
                  <a:srgbClr val="4B4A4A"/>
                </a:solidFill>
                <a:latin typeface="Arial"/>
                <a:cs typeface="Arial"/>
              </a:rPr>
              <a:t>product-</a:t>
            </a:r>
            <a:r>
              <a:rPr dirty="0" sz="1750" spc="-10">
                <a:solidFill>
                  <a:srgbClr val="4B4A4A"/>
                </a:solidFill>
                <a:latin typeface="Arial"/>
                <a:cs typeface="Arial"/>
              </a:rPr>
              <a:t>level detail.</a:t>
            </a:r>
            <a:endParaRPr sz="1750">
              <a:latin typeface="Arial"/>
              <a:cs typeface="Arial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11453698" y="1628775"/>
            <a:ext cx="2398395" cy="3921760"/>
            <a:chOff x="11453698" y="1628775"/>
            <a:chExt cx="2398395" cy="3921760"/>
          </a:xfrm>
        </p:grpSpPr>
        <p:sp>
          <p:nvSpPr>
            <p:cNvPr id="15" name="object 15" descr=""/>
            <p:cNvSpPr/>
            <p:nvPr/>
          </p:nvSpPr>
          <p:spPr>
            <a:xfrm>
              <a:off x="11468938" y="1644015"/>
              <a:ext cx="2367915" cy="3891279"/>
            </a:xfrm>
            <a:custGeom>
              <a:avLst/>
              <a:gdLst/>
              <a:ahLst/>
              <a:cxnLst/>
              <a:rect l="l" t="t" r="r" b="b"/>
              <a:pathLst>
                <a:path w="2367915" h="3891279">
                  <a:moveTo>
                    <a:pt x="2163406" y="0"/>
                  </a:moveTo>
                  <a:lnTo>
                    <a:pt x="204153" y="0"/>
                  </a:lnTo>
                  <a:lnTo>
                    <a:pt x="157581" y="5431"/>
                  </a:lnTo>
                  <a:lnTo>
                    <a:pt x="114702" y="20883"/>
                  </a:lnTo>
                  <a:lnTo>
                    <a:pt x="76783" y="45089"/>
                  </a:lnTo>
                  <a:lnTo>
                    <a:pt x="45088" y="76785"/>
                  </a:lnTo>
                  <a:lnTo>
                    <a:pt x="20882" y="114704"/>
                  </a:lnTo>
                  <a:lnTo>
                    <a:pt x="5431" y="157582"/>
                  </a:lnTo>
                  <a:lnTo>
                    <a:pt x="0" y="204152"/>
                  </a:lnTo>
                  <a:lnTo>
                    <a:pt x="0" y="3686924"/>
                  </a:lnTo>
                  <a:lnTo>
                    <a:pt x="5431" y="3733498"/>
                  </a:lnTo>
                  <a:lnTo>
                    <a:pt x="20882" y="3776377"/>
                  </a:lnTo>
                  <a:lnTo>
                    <a:pt x="45088" y="3814296"/>
                  </a:lnTo>
                  <a:lnTo>
                    <a:pt x="76783" y="3845990"/>
                  </a:lnTo>
                  <a:lnTo>
                    <a:pt x="114702" y="3870195"/>
                  </a:lnTo>
                  <a:lnTo>
                    <a:pt x="157581" y="3885645"/>
                  </a:lnTo>
                  <a:lnTo>
                    <a:pt x="204153" y="3891076"/>
                  </a:lnTo>
                  <a:lnTo>
                    <a:pt x="2163406" y="3891076"/>
                  </a:lnTo>
                  <a:lnTo>
                    <a:pt x="2209977" y="3885645"/>
                  </a:lnTo>
                  <a:lnTo>
                    <a:pt x="2252854" y="3870195"/>
                  </a:lnTo>
                  <a:lnTo>
                    <a:pt x="2290774" y="3845990"/>
                  </a:lnTo>
                  <a:lnTo>
                    <a:pt x="2322469" y="3814296"/>
                  </a:lnTo>
                  <a:lnTo>
                    <a:pt x="2346675" y="3776377"/>
                  </a:lnTo>
                  <a:lnTo>
                    <a:pt x="2362127" y="3733498"/>
                  </a:lnTo>
                  <a:lnTo>
                    <a:pt x="2367559" y="3686924"/>
                  </a:lnTo>
                  <a:lnTo>
                    <a:pt x="2367559" y="204152"/>
                  </a:lnTo>
                  <a:lnTo>
                    <a:pt x="2362127" y="157582"/>
                  </a:lnTo>
                  <a:lnTo>
                    <a:pt x="2346675" y="114704"/>
                  </a:lnTo>
                  <a:lnTo>
                    <a:pt x="2322469" y="76785"/>
                  </a:lnTo>
                  <a:lnTo>
                    <a:pt x="2290774" y="45089"/>
                  </a:lnTo>
                  <a:lnTo>
                    <a:pt x="2252854" y="20883"/>
                  </a:lnTo>
                  <a:lnTo>
                    <a:pt x="2209977" y="5431"/>
                  </a:lnTo>
                  <a:lnTo>
                    <a:pt x="2163406" y="0"/>
                  </a:lnTo>
                  <a:close/>
                </a:path>
              </a:pathLst>
            </a:custGeom>
            <a:solidFill>
              <a:srgbClr val="E5F8F2">
                <a:alpha val="949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11468938" y="1644015"/>
              <a:ext cx="2367915" cy="3891279"/>
            </a:xfrm>
            <a:custGeom>
              <a:avLst/>
              <a:gdLst/>
              <a:ahLst/>
              <a:cxnLst/>
              <a:rect l="l" t="t" r="r" b="b"/>
              <a:pathLst>
                <a:path w="2367915" h="3891279">
                  <a:moveTo>
                    <a:pt x="0" y="204152"/>
                  </a:moveTo>
                  <a:lnTo>
                    <a:pt x="5431" y="157582"/>
                  </a:lnTo>
                  <a:lnTo>
                    <a:pt x="20882" y="114704"/>
                  </a:lnTo>
                  <a:lnTo>
                    <a:pt x="45088" y="76785"/>
                  </a:lnTo>
                  <a:lnTo>
                    <a:pt x="76783" y="45089"/>
                  </a:lnTo>
                  <a:lnTo>
                    <a:pt x="114702" y="20883"/>
                  </a:lnTo>
                  <a:lnTo>
                    <a:pt x="157581" y="5431"/>
                  </a:lnTo>
                  <a:lnTo>
                    <a:pt x="204153" y="0"/>
                  </a:lnTo>
                  <a:lnTo>
                    <a:pt x="2163406" y="0"/>
                  </a:lnTo>
                  <a:lnTo>
                    <a:pt x="2209977" y="5431"/>
                  </a:lnTo>
                  <a:lnTo>
                    <a:pt x="2252854" y="20883"/>
                  </a:lnTo>
                  <a:lnTo>
                    <a:pt x="2290774" y="45089"/>
                  </a:lnTo>
                  <a:lnTo>
                    <a:pt x="2322469" y="76785"/>
                  </a:lnTo>
                  <a:lnTo>
                    <a:pt x="2346675" y="114704"/>
                  </a:lnTo>
                  <a:lnTo>
                    <a:pt x="2362127" y="157582"/>
                  </a:lnTo>
                  <a:lnTo>
                    <a:pt x="2367559" y="204152"/>
                  </a:lnTo>
                  <a:lnTo>
                    <a:pt x="2367559" y="3686924"/>
                  </a:lnTo>
                  <a:lnTo>
                    <a:pt x="2362127" y="3733498"/>
                  </a:lnTo>
                  <a:lnTo>
                    <a:pt x="2346675" y="3776377"/>
                  </a:lnTo>
                  <a:lnTo>
                    <a:pt x="2322469" y="3814296"/>
                  </a:lnTo>
                  <a:lnTo>
                    <a:pt x="2290774" y="3845990"/>
                  </a:lnTo>
                  <a:lnTo>
                    <a:pt x="2252854" y="3870195"/>
                  </a:lnTo>
                  <a:lnTo>
                    <a:pt x="2209977" y="3885645"/>
                  </a:lnTo>
                  <a:lnTo>
                    <a:pt x="2163406" y="3891076"/>
                  </a:lnTo>
                  <a:lnTo>
                    <a:pt x="204153" y="3891076"/>
                  </a:lnTo>
                  <a:lnTo>
                    <a:pt x="157581" y="3885645"/>
                  </a:lnTo>
                  <a:lnTo>
                    <a:pt x="114702" y="3870195"/>
                  </a:lnTo>
                  <a:lnTo>
                    <a:pt x="76783" y="3845990"/>
                  </a:lnTo>
                  <a:lnTo>
                    <a:pt x="45088" y="3814296"/>
                  </a:lnTo>
                  <a:lnTo>
                    <a:pt x="20882" y="3776377"/>
                  </a:lnTo>
                  <a:lnTo>
                    <a:pt x="5431" y="3733498"/>
                  </a:lnTo>
                  <a:lnTo>
                    <a:pt x="0" y="3686924"/>
                  </a:lnTo>
                  <a:lnTo>
                    <a:pt x="0" y="204152"/>
                  </a:lnTo>
                  <a:close/>
                </a:path>
              </a:pathLst>
            </a:custGeom>
            <a:ln w="30479">
              <a:solidFill>
                <a:srgbClr val="B7D4C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11713527" y="1896668"/>
            <a:ext cx="1809750" cy="23056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ts val="2750"/>
              </a:lnSpc>
              <a:spcBef>
                <a:spcPts val="100"/>
              </a:spcBef>
            </a:pPr>
            <a:r>
              <a:rPr dirty="0" sz="2200" spc="-10" b="1">
                <a:solidFill>
                  <a:srgbClr val="4B4A4A"/>
                </a:solidFill>
                <a:latin typeface="Arial"/>
                <a:cs typeface="Arial"/>
              </a:rPr>
              <a:t>Demographic Insights</a:t>
            </a:r>
            <a:endParaRPr sz="2200">
              <a:latin typeface="Arial"/>
              <a:cs typeface="Arial"/>
            </a:endParaRPr>
          </a:p>
          <a:p>
            <a:pPr marL="12700" marR="22860">
              <a:lnSpc>
                <a:spcPct val="135700"/>
              </a:lnSpc>
              <a:spcBef>
                <a:spcPts val="1050"/>
              </a:spcBef>
            </a:pP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Age</a:t>
            </a:r>
            <a:r>
              <a:rPr dirty="0" sz="1750" spc="-3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and</a:t>
            </a:r>
            <a:r>
              <a:rPr dirty="0" sz="1750" spc="-30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4B4A4A"/>
                </a:solidFill>
                <a:latin typeface="Arial"/>
                <a:cs typeface="Arial"/>
              </a:rPr>
              <a:t>gender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spending</a:t>
            </a:r>
            <a:r>
              <a:rPr dirty="0" sz="1750" spc="-110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4B4A4A"/>
                </a:solidFill>
                <a:latin typeface="Arial"/>
                <a:cs typeface="Arial"/>
              </a:rPr>
              <a:t>patterns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to</a:t>
            </a:r>
            <a:r>
              <a:rPr dirty="0" sz="1750" spc="-40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refine</a:t>
            </a:r>
            <a:r>
              <a:rPr dirty="0" sz="1750" spc="-40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4B4A4A"/>
                </a:solidFill>
                <a:latin typeface="Arial"/>
                <a:cs typeface="Arial"/>
              </a:rPr>
              <a:t>audience targeting.</a:t>
            </a:r>
            <a:endParaRPr sz="1750">
              <a:latin typeface="Arial"/>
              <a:cs typeface="Arial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6264948" y="5746674"/>
            <a:ext cx="7586980" cy="1761489"/>
            <a:chOff x="6264948" y="5746674"/>
            <a:chExt cx="7586980" cy="1761489"/>
          </a:xfrm>
        </p:grpSpPr>
        <p:sp>
          <p:nvSpPr>
            <p:cNvPr id="19" name="object 19" descr=""/>
            <p:cNvSpPr/>
            <p:nvPr/>
          </p:nvSpPr>
          <p:spPr>
            <a:xfrm>
              <a:off x="6280188" y="5761913"/>
              <a:ext cx="7556500" cy="1731010"/>
            </a:xfrm>
            <a:custGeom>
              <a:avLst/>
              <a:gdLst/>
              <a:ahLst/>
              <a:cxnLst/>
              <a:rect l="l" t="t" r="r" b="b"/>
              <a:pathLst>
                <a:path w="7556500" h="1731009">
                  <a:moveTo>
                    <a:pt x="7352157" y="0"/>
                  </a:moveTo>
                  <a:lnTo>
                    <a:pt x="204148" y="0"/>
                  </a:lnTo>
                  <a:lnTo>
                    <a:pt x="157577" y="5431"/>
                  </a:lnTo>
                  <a:lnTo>
                    <a:pt x="114699" y="20881"/>
                  </a:lnTo>
                  <a:lnTo>
                    <a:pt x="76781" y="45085"/>
                  </a:lnTo>
                  <a:lnTo>
                    <a:pt x="45087" y="76779"/>
                  </a:lnTo>
                  <a:lnTo>
                    <a:pt x="20882" y="114698"/>
                  </a:lnTo>
                  <a:lnTo>
                    <a:pt x="5431" y="157578"/>
                  </a:lnTo>
                  <a:lnTo>
                    <a:pt x="0" y="204152"/>
                  </a:lnTo>
                  <a:lnTo>
                    <a:pt x="0" y="1526667"/>
                  </a:lnTo>
                  <a:lnTo>
                    <a:pt x="5431" y="1573236"/>
                  </a:lnTo>
                  <a:lnTo>
                    <a:pt x="20882" y="1616112"/>
                  </a:lnTo>
                  <a:lnTo>
                    <a:pt x="45087" y="1654029"/>
                  </a:lnTo>
                  <a:lnTo>
                    <a:pt x="76781" y="1685721"/>
                  </a:lnTo>
                  <a:lnTo>
                    <a:pt x="114699" y="1709925"/>
                  </a:lnTo>
                  <a:lnTo>
                    <a:pt x="157577" y="1725375"/>
                  </a:lnTo>
                  <a:lnTo>
                    <a:pt x="204148" y="1730806"/>
                  </a:lnTo>
                  <a:lnTo>
                    <a:pt x="7352157" y="1730806"/>
                  </a:lnTo>
                  <a:lnTo>
                    <a:pt x="7398726" y="1725375"/>
                  </a:lnTo>
                  <a:lnTo>
                    <a:pt x="7441602" y="1709925"/>
                  </a:lnTo>
                  <a:lnTo>
                    <a:pt x="7479519" y="1685721"/>
                  </a:lnTo>
                  <a:lnTo>
                    <a:pt x="7511211" y="1654029"/>
                  </a:lnTo>
                  <a:lnTo>
                    <a:pt x="7535415" y="1616112"/>
                  </a:lnTo>
                  <a:lnTo>
                    <a:pt x="7550865" y="1573236"/>
                  </a:lnTo>
                  <a:lnTo>
                    <a:pt x="7556296" y="1526667"/>
                  </a:lnTo>
                  <a:lnTo>
                    <a:pt x="7556296" y="204152"/>
                  </a:lnTo>
                  <a:lnTo>
                    <a:pt x="7550865" y="157578"/>
                  </a:lnTo>
                  <a:lnTo>
                    <a:pt x="7535415" y="114698"/>
                  </a:lnTo>
                  <a:lnTo>
                    <a:pt x="7511211" y="76779"/>
                  </a:lnTo>
                  <a:lnTo>
                    <a:pt x="7479519" y="45085"/>
                  </a:lnTo>
                  <a:lnTo>
                    <a:pt x="7441602" y="20881"/>
                  </a:lnTo>
                  <a:lnTo>
                    <a:pt x="7398726" y="5431"/>
                  </a:lnTo>
                  <a:lnTo>
                    <a:pt x="7352157" y="0"/>
                  </a:lnTo>
                  <a:close/>
                </a:path>
              </a:pathLst>
            </a:custGeom>
            <a:solidFill>
              <a:srgbClr val="E5F8F2">
                <a:alpha val="949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6280188" y="5761913"/>
              <a:ext cx="7556500" cy="1731010"/>
            </a:xfrm>
            <a:custGeom>
              <a:avLst/>
              <a:gdLst/>
              <a:ahLst/>
              <a:cxnLst/>
              <a:rect l="l" t="t" r="r" b="b"/>
              <a:pathLst>
                <a:path w="7556500" h="1731009">
                  <a:moveTo>
                    <a:pt x="0" y="204152"/>
                  </a:moveTo>
                  <a:lnTo>
                    <a:pt x="5431" y="157578"/>
                  </a:lnTo>
                  <a:lnTo>
                    <a:pt x="20882" y="114698"/>
                  </a:lnTo>
                  <a:lnTo>
                    <a:pt x="45087" y="76779"/>
                  </a:lnTo>
                  <a:lnTo>
                    <a:pt x="76781" y="45085"/>
                  </a:lnTo>
                  <a:lnTo>
                    <a:pt x="114699" y="20881"/>
                  </a:lnTo>
                  <a:lnTo>
                    <a:pt x="157577" y="5431"/>
                  </a:lnTo>
                  <a:lnTo>
                    <a:pt x="204148" y="0"/>
                  </a:lnTo>
                  <a:lnTo>
                    <a:pt x="7352157" y="0"/>
                  </a:lnTo>
                  <a:lnTo>
                    <a:pt x="7398726" y="5431"/>
                  </a:lnTo>
                  <a:lnTo>
                    <a:pt x="7441602" y="20881"/>
                  </a:lnTo>
                  <a:lnTo>
                    <a:pt x="7479519" y="45085"/>
                  </a:lnTo>
                  <a:lnTo>
                    <a:pt x="7511211" y="76779"/>
                  </a:lnTo>
                  <a:lnTo>
                    <a:pt x="7535415" y="114698"/>
                  </a:lnTo>
                  <a:lnTo>
                    <a:pt x="7550865" y="157578"/>
                  </a:lnTo>
                  <a:lnTo>
                    <a:pt x="7556296" y="204152"/>
                  </a:lnTo>
                  <a:lnTo>
                    <a:pt x="7556296" y="1526667"/>
                  </a:lnTo>
                  <a:lnTo>
                    <a:pt x="7550865" y="1573236"/>
                  </a:lnTo>
                  <a:lnTo>
                    <a:pt x="7535415" y="1616112"/>
                  </a:lnTo>
                  <a:lnTo>
                    <a:pt x="7511211" y="1654029"/>
                  </a:lnTo>
                  <a:lnTo>
                    <a:pt x="7479519" y="1685721"/>
                  </a:lnTo>
                  <a:lnTo>
                    <a:pt x="7441602" y="1709925"/>
                  </a:lnTo>
                  <a:lnTo>
                    <a:pt x="7398726" y="1725375"/>
                  </a:lnTo>
                  <a:lnTo>
                    <a:pt x="7352157" y="1730806"/>
                  </a:lnTo>
                  <a:lnTo>
                    <a:pt x="204148" y="1730806"/>
                  </a:lnTo>
                  <a:lnTo>
                    <a:pt x="157577" y="1725375"/>
                  </a:lnTo>
                  <a:lnTo>
                    <a:pt x="114699" y="1709925"/>
                  </a:lnTo>
                  <a:lnTo>
                    <a:pt x="76781" y="1685721"/>
                  </a:lnTo>
                  <a:lnTo>
                    <a:pt x="45087" y="1654029"/>
                  </a:lnTo>
                  <a:lnTo>
                    <a:pt x="20882" y="1616112"/>
                  </a:lnTo>
                  <a:lnTo>
                    <a:pt x="5431" y="1573236"/>
                  </a:lnTo>
                  <a:lnTo>
                    <a:pt x="0" y="1526667"/>
                  </a:lnTo>
                  <a:lnTo>
                    <a:pt x="0" y="204152"/>
                  </a:lnTo>
                  <a:close/>
                </a:path>
              </a:pathLst>
            </a:custGeom>
            <a:ln w="30479">
              <a:solidFill>
                <a:srgbClr val="B7D4C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/>
          <p:nvPr/>
        </p:nvSpPr>
        <p:spPr>
          <a:xfrm>
            <a:off x="6524777" y="6014567"/>
            <a:ext cx="6271260" cy="12274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b="1">
                <a:solidFill>
                  <a:srgbClr val="4B4A4A"/>
                </a:solidFill>
                <a:latin typeface="Arial"/>
                <a:cs typeface="Arial"/>
              </a:rPr>
              <a:t>Interactive</a:t>
            </a:r>
            <a:r>
              <a:rPr dirty="0" sz="2200" spc="-150" b="1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2200" spc="-10" b="1">
                <a:solidFill>
                  <a:srgbClr val="4B4A4A"/>
                </a:solidFill>
                <a:latin typeface="Arial"/>
                <a:cs typeface="Arial"/>
              </a:rPr>
              <a:t>Filters</a:t>
            </a:r>
            <a:endParaRPr sz="2200">
              <a:latin typeface="Arial"/>
              <a:cs typeface="Arial"/>
            </a:endParaRPr>
          </a:p>
          <a:p>
            <a:pPr marL="12700" marR="5080">
              <a:lnSpc>
                <a:spcPct val="135700"/>
              </a:lnSpc>
              <a:spcBef>
                <a:spcPts val="1120"/>
              </a:spcBef>
            </a:pP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Slicers</a:t>
            </a:r>
            <a:r>
              <a:rPr dirty="0" sz="1750" spc="-6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for</a:t>
            </a:r>
            <a:r>
              <a:rPr dirty="0" sz="1750" spc="-6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date</a:t>
            </a:r>
            <a:r>
              <a:rPr dirty="0" sz="1750" spc="-60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range,</a:t>
            </a:r>
            <a:r>
              <a:rPr dirty="0" sz="1750" spc="-6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location,</a:t>
            </a:r>
            <a:r>
              <a:rPr dirty="0" sz="1750" spc="-6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payment</a:t>
            </a:r>
            <a:r>
              <a:rPr dirty="0" sz="1750" spc="-60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method,</a:t>
            </a:r>
            <a:r>
              <a:rPr dirty="0" sz="1750" spc="-6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and</a:t>
            </a:r>
            <a:r>
              <a:rPr dirty="0" sz="1750" spc="-6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4B4A4A"/>
                </a:solidFill>
                <a:latin typeface="Arial"/>
                <a:cs typeface="Arial"/>
              </a:rPr>
              <a:t>customer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segment</a:t>
            </a:r>
            <a:r>
              <a:rPr dirty="0" sz="1750" spc="-2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for</a:t>
            </a:r>
            <a:r>
              <a:rPr dirty="0" sz="1750" spc="-2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 spc="-20">
                <a:solidFill>
                  <a:srgbClr val="4B4A4A"/>
                </a:solidFill>
                <a:latin typeface="Arial"/>
                <a:cs typeface="Arial"/>
              </a:rPr>
              <a:t>on-the-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fly</a:t>
            </a:r>
            <a:r>
              <a:rPr dirty="0" sz="1750" spc="-20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4B4A4A"/>
                </a:solidFill>
                <a:latin typeface="Arial"/>
                <a:cs typeface="Arial"/>
              </a:rPr>
              <a:t>analysis.</a:t>
            </a:r>
            <a:endParaRPr sz="17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4630400" cy="2976918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781089" y="4006557"/>
            <a:ext cx="6210935" cy="566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550" b="1">
                <a:solidFill>
                  <a:srgbClr val="006646"/>
                </a:solidFill>
                <a:latin typeface="Arial"/>
                <a:cs typeface="Arial"/>
              </a:rPr>
              <a:t>Conclusion</a:t>
            </a:r>
            <a:r>
              <a:rPr dirty="0" sz="3550" spc="-30" b="1">
                <a:solidFill>
                  <a:srgbClr val="006646"/>
                </a:solidFill>
                <a:latin typeface="Arial"/>
                <a:cs typeface="Arial"/>
              </a:rPr>
              <a:t> </a:t>
            </a:r>
            <a:r>
              <a:rPr dirty="0" sz="3550" b="1">
                <a:solidFill>
                  <a:srgbClr val="006646"/>
                </a:solidFill>
                <a:latin typeface="Arial"/>
                <a:cs typeface="Arial"/>
              </a:rPr>
              <a:t>&amp;</a:t>
            </a:r>
            <a:r>
              <a:rPr dirty="0" sz="3550" spc="-30" b="1">
                <a:solidFill>
                  <a:srgbClr val="006646"/>
                </a:solidFill>
                <a:latin typeface="Arial"/>
                <a:cs typeface="Arial"/>
              </a:rPr>
              <a:t> </a:t>
            </a:r>
            <a:r>
              <a:rPr dirty="0" sz="3550" b="1">
                <a:solidFill>
                  <a:srgbClr val="006646"/>
                </a:solidFill>
                <a:latin typeface="Arial"/>
                <a:cs typeface="Arial"/>
              </a:rPr>
              <a:t>Key</a:t>
            </a:r>
            <a:r>
              <a:rPr dirty="0" sz="3550" spc="-25" b="1">
                <a:solidFill>
                  <a:srgbClr val="006646"/>
                </a:solidFill>
                <a:latin typeface="Arial"/>
                <a:cs typeface="Arial"/>
              </a:rPr>
              <a:t> </a:t>
            </a:r>
            <a:r>
              <a:rPr dirty="0" sz="3550" spc="-10" b="1">
                <a:solidFill>
                  <a:srgbClr val="006646"/>
                </a:solidFill>
                <a:latin typeface="Arial"/>
                <a:cs typeface="Arial"/>
              </a:rPr>
              <a:t>Outcomes</a:t>
            </a:r>
            <a:endParaRPr sz="355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81089" y="4894402"/>
            <a:ext cx="13046710" cy="1473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5700"/>
              </a:lnSpc>
              <a:spcBef>
                <a:spcPts val="100"/>
              </a:spcBef>
            </a:pP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Delivered</a:t>
            </a:r>
            <a:r>
              <a:rPr dirty="0" sz="1750" spc="-6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an</a:t>
            </a:r>
            <a:r>
              <a:rPr dirty="0" sz="1750" spc="-60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 spc="-20">
                <a:solidFill>
                  <a:srgbClr val="4B4A4A"/>
                </a:solidFill>
                <a:latin typeface="Arial"/>
                <a:cs typeface="Arial"/>
              </a:rPr>
              <a:t>end-to-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end</a:t>
            </a:r>
            <a:r>
              <a:rPr dirty="0" sz="1750" spc="-60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analytics</a:t>
            </a:r>
            <a:r>
              <a:rPr dirty="0" sz="1750" spc="-60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solution</a:t>
            </a:r>
            <a:r>
              <a:rPr dirty="0" sz="1750" spc="-6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that</a:t>
            </a:r>
            <a:r>
              <a:rPr dirty="0" sz="1750" spc="-60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identified</a:t>
            </a:r>
            <a:r>
              <a:rPr dirty="0" sz="1750" spc="-60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 spc="-20">
                <a:solidFill>
                  <a:srgbClr val="4B4A4A"/>
                </a:solidFill>
                <a:latin typeface="Arial"/>
                <a:cs typeface="Arial"/>
              </a:rPr>
              <a:t>top-</a:t>
            </a:r>
            <a:r>
              <a:rPr dirty="0" sz="1750" spc="-10">
                <a:solidFill>
                  <a:srgbClr val="4B4A4A"/>
                </a:solidFill>
                <a:latin typeface="Arial"/>
                <a:cs typeface="Arial"/>
              </a:rPr>
              <a:t>performing</a:t>
            </a:r>
            <a:r>
              <a:rPr dirty="0" sz="1750" spc="-60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products,</a:t>
            </a:r>
            <a:r>
              <a:rPr dirty="0" sz="1750" spc="-60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uncovered</a:t>
            </a:r>
            <a:r>
              <a:rPr dirty="0" sz="1750" spc="-6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peak</a:t>
            </a:r>
            <a:r>
              <a:rPr dirty="0" sz="1750" spc="-60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sales</a:t>
            </a:r>
            <a:r>
              <a:rPr dirty="0" sz="1750" spc="-60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periods,</a:t>
            </a:r>
            <a:r>
              <a:rPr dirty="0" sz="1750" spc="-60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and</a:t>
            </a:r>
            <a:r>
              <a:rPr dirty="0" sz="1750" spc="-60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4B4A4A"/>
                </a:solidFill>
                <a:latin typeface="Arial"/>
                <a:cs typeface="Arial"/>
              </a:rPr>
              <a:t>revealed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demographic</a:t>
            </a:r>
            <a:r>
              <a:rPr dirty="0" sz="1750" spc="-7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spending</a:t>
            </a:r>
            <a:r>
              <a:rPr dirty="0" sz="1750" spc="-7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patterns.</a:t>
            </a:r>
            <a:r>
              <a:rPr dirty="0" sz="1750" spc="-7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4B4A4A"/>
                </a:solidFill>
                <a:latin typeface="Arial"/>
                <a:cs typeface="Arial"/>
              </a:rPr>
              <a:t>Recommendations</a:t>
            </a:r>
            <a:r>
              <a:rPr dirty="0" sz="1750" spc="-7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include</a:t>
            </a:r>
            <a:r>
              <a:rPr dirty="0" sz="1750" spc="-7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inventory</a:t>
            </a:r>
            <a:r>
              <a:rPr dirty="0" sz="1750" spc="-7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4B4A4A"/>
                </a:solidFill>
                <a:latin typeface="Arial"/>
                <a:cs typeface="Arial"/>
              </a:rPr>
              <a:t>reallocation</a:t>
            </a:r>
            <a:r>
              <a:rPr dirty="0" sz="1750" spc="-7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during</a:t>
            </a:r>
            <a:r>
              <a:rPr dirty="0" sz="1750" spc="-7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peak</a:t>
            </a:r>
            <a:r>
              <a:rPr dirty="0" sz="1750" spc="-7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months,</a:t>
            </a:r>
            <a:r>
              <a:rPr dirty="0" sz="1750" spc="-7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targeted</a:t>
            </a:r>
            <a:r>
              <a:rPr dirty="0" sz="1750" spc="-7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promotions</a:t>
            </a:r>
            <a:r>
              <a:rPr dirty="0" sz="1750" spc="-7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for</a:t>
            </a:r>
            <a:r>
              <a:rPr dirty="0" sz="1750" spc="-7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4B4A4A"/>
                </a:solidFill>
                <a:latin typeface="Arial"/>
                <a:cs typeface="Arial"/>
              </a:rPr>
              <a:t>high-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value</a:t>
            </a:r>
            <a:r>
              <a:rPr dirty="0" sz="1750" spc="-6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cohorts,</a:t>
            </a:r>
            <a:r>
              <a:rPr dirty="0" sz="1750" spc="-60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and</a:t>
            </a:r>
            <a:r>
              <a:rPr dirty="0" sz="1750" spc="-6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checkout</a:t>
            </a:r>
            <a:r>
              <a:rPr dirty="0" sz="1750" spc="-60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4B4A4A"/>
                </a:solidFill>
                <a:latin typeface="Arial"/>
                <a:cs typeface="Arial"/>
              </a:rPr>
              <a:t>optimizations</a:t>
            </a:r>
            <a:r>
              <a:rPr dirty="0" sz="1750" spc="-6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for</a:t>
            </a:r>
            <a:r>
              <a:rPr dirty="0" sz="1750" spc="-60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rising</a:t>
            </a:r>
            <a:r>
              <a:rPr dirty="0" sz="1750" spc="-6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digital</a:t>
            </a:r>
            <a:r>
              <a:rPr dirty="0" sz="1750" spc="-60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payments.</a:t>
            </a:r>
            <a:r>
              <a:rPr dirty="0" sz="1750" spc="-60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The</a:t>
            </a:r>
            <a:r>
              <a:rPr dirty="0" sz="1750" spc="-6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project</a:t>
            </a:r>
            <a:r>
              <a:rPr dirty="0" sz="1750" spc="-60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proves</a:t>
            </a:r>
            <a:r>
              <a:rPr dirty="0" sz="1750" spc="-6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capability</a:t>
            </a:r>
            <a:r>
              <a:rPr dirty="0" sz="1750" spc="-60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in</a:t>
            </a:r>
            <a:r>
              <a:rPr dirty="0" sz="1750" spc="-6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data</a:t>
            </a:r>
            <a:r>
              <a:rPr dirty="0" sz="1750" spc="-60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4B4A4A"/>
                </a:solidFill>
                <a:latin typeface="Arial"/>
                <a:cs typeface="Arial"/>
              </a:rPr>
              <a:t>engineering,</a:t>
            </a:r>
            <a:r>
              <a:rPr dirty="0" sz="1750" spc="-60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4B4A4A"/>
                </a:solidFill>
                <a:latin typeface="Arial"/>
                <a:cs typeface="Arial"/>
              </a:rPr>
              <a:t>analysis,</a:t>
            </a:r>
            <a:r>
              <a:rPr dirty="0" sz="1750" spc="-6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 spc="-25">
                <a:solidFill>
                  <a:srgbClr val="4B4A4A"/>
                </a:solidFill>
                <a:latin typeface="Arial"/>
                <a:cs typeface="Arial"/>
              </a:rPr>
              <a:t>and </a:t>
            </a:r>
            <a:r>
              <a:rPr dirty="0" sz="1750" spc="-10">
                <a:solidFill>
                  <a:srgbClr val="4B4A4A"/>
                </a:solidFill>
                <a:latin typeface="Arial"/>
                <a:cs typeface="Arial"/>
              </a:rPr>
              <a:t>dashboard</a:t>
            </a:r>
            <a:r>
              <a:rPr dirty="0" sz="1750" spc="-3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4B4A4A"/>
                </a:solidFill>
                <a:latin typeface="Arial"/>
                <a:cs typeface="Arial"/>
              </a:rPr>
              <a:t>storytelling.</a:t>
            </a:r>
            <a:endParaRPr sz="1750">
              <a:latin typeface="Arial"/>
              <a:cs typeface="Arial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793789" y="6626187"/>
            <a:ext cx="1310640" cy="426720"/>
          </a:xfrm>
          <a:custGeom>
            <a:avLst/>
            <a:gdLst/>
            <a:ahLst/>
            <a:cxnLst/>
            <a:rect l="l" t="t" r="r" b="b"/>
            <a:pathLst>
              <a:path w="1310639" h="426720">
                <a:moveTo>
                  <a:pt x="1147086" y="0"/>
                </a:moveTo>
                <a:lnTo>
                  <a:pt x="163315" y="0"/>
                </a:lnTo>
                <a:lnTo>
                  <a:pt x="120109" y="5875"/>
                </a:lnTo>
                <a:lnTo>
                  <a:pt x="81155" y="22431"/>
                </a:lnTo>
                <a:lnTo>
                  <a:pt x="48060" y="48059"/>
                </a:lnTo>
                <a:lnTo>
                  <a:pt x="22431" y="81153"/>
                </a:lnTo>
                <a:lnTo>
                  <a:pt x="5875" y="120106"/>
                </a:lnTo>
                <a:lnTo>
                  <a:pt x="0" y="163309"/>
                </a:lnTo>
                <a:lnTo>
                  <a:pt x="0" y="262928"/>
                </a:lnTo>
                <a:lnTo>
                  <a:pt x="5875" y="306136"/>
                </a:lnTo>
                <a:lnTo>
                  <a:pt x="22431" y="345092"/>
                </a:lnTo>
                <a:lnTo>
                  <a:pt x="48060" y="378188"/>
                </a:lnTo>
                <a:lnTo>
                  <a:pt x="81155" y="403818"/>
                </a:lnTo>
                <a:lnTo>
                  <a:pt x="120109" y="420374"/>
                </a:lnTo>
                <a:lnTo>
                  <a:pt x="163315" y="426250"/>
                </a:lnTo>
                <a:lnTo>
                  <a:pt x="1147086" y="426250"/>
                </a:lnTo>
                <a:lnTo>
                  <a:pt x="1190292" y="420374"/>
                </a:lnTo>
                <a:lnTo>
                  <a:pt x="1229245" y="403818"/>
                </a:lnTo>
                <a:lnTo>
                  <a:pt x="1262339" y="378188"/>
                </a:lnTo>
                <a:lnTo>
                  <a:pt x="1287967" y="345092"/>
                </a:lnTo>
                <a:lnTo>
                  <a:pt x="1304523" y="306136"/>
                </a:lnTo>
                <a:lnTo>
                  <a:pt x="1310398" y="262928"/>
                </a:lnTo>
                <a:lnTo>
                  <a:pt x="1310398" y="163309"/>
                </a:lnTo>
                <a:lnTo>
                  <a:pt x="1304523" y="120106"/>
                </a:lnTo>
                <a:lnTo>
                  <a:pt x="1287967" y="81153"/>
                </a:lnTo>
                <a:lnTo>
                  <a:pt x="1262339" y="48059"/>
                </a:lnTo>
                <a:lnTo>
                  <a:pt x="1229245" y="22431"/>
                </a:lnTo>
                <a:lnTo>
                  <a:pt x="1190292" y="5875"/>
                </a:lnTo>
                <a:lnTo>
                  <a:pt x="1147086" y="0"/>
                </a:lnTo>
                <a:close/>
              </a:path>
            </a:pathLst>
          </a:custGeom>
          <a:solidFill>
            <a:srgbClr val="CCFF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917177" y="6750101"/>
            <a:ext cx="113220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4B4A4A"/>
                </a:solidFill>
                <a:latin typeface="Arial"/>
                <a:cs typeface="Arial"/>
              </a:rPr>
              <a:t>NEXT</a:t>
            </a:r>
            <a:r>
              <a:rPr dirty="0" sz="1400" spc="-35">
                <a:solidFill>
                  <a:srgbClr val="4B4A4A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4B4A4A"/>
                </a:solidFill>
                <a:latin typeface="Arial"/>
                <a:cs typeface="Arial"/>
              </a:rPr>
              <a:t>STEPS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2217534" y="6618566"/>
            <a:ext cx="8119109" cy="441959"/>
          </a:xfrm>
          <a:custGeom>
            <a:avLst/>
            <a:gdLst/>
            <a:ahLst/>
            <a:cxnLst/>
            <a:rect l="l" t="t" r="r" b="b"/>
            <a:pathLst>
              <a:path w="8119109" h="441959">
                <a:moveTo>
                  <a:pt x="0" y="163322"/>
                </a:moveTo>
                <a:lnTo>
                  <a:pt x="5875" y="120113"/>
                </a:lnTo>
                <a:lnTo>
                  <a:pt x="22432" y="81157"/>
                </a:lnTo>
                <a:lnTo>
                  <a:pt x="48061" y="48061"/>
                </a:lnTo>
                <a:lnTo>
                  <a:pt x="81156" y="22431"/>
                </a:lnTo>
                <a:lnTo>
                  <a:pt x="120111" y="5875"/>
                </a:lnTo>
                <a:lnTo>
                  <a:pt x="163318" y="0"/>
                </a:lnTo>
                <a:lnTo>
                  <a:pt x="7955318" y="0"/>
                </a:lnTo>
                <a:lnTo>
                  <a:pt x="7998521" y="5875"/>
                </a:lnTo>
                <a:lnTo>
                  <a:pt x="8037473" y="22431"/>
                </a:lnTo>
                <a:lnTo>
                  <a:pt x="8070567" y="48061"/>
                </a:lnTo>
                <a:lnTo>
                  <a:pt x="8096195" y="81157"/>
                </a:lnTo>
                <a:lnTo>
                  <a:pt x="8112751" y="120113"/>
                </a:lnTo>
                <a:lnTo>
                  <a:pt x="8118627" y="163322"/>
                </a:lnTo>
                <a:lnTo>
                  <a:pt x="8118627" y="278168"/>
                </a:lnTo>
                <a:lnTo>
                  <a:pt x="8112751" y="321372"/>
                </a:lnTo>
                <a:lnTo>
                  <a:pt x="8096195" y="360326"/>
                </a:lnTo>
                <a:lnTo>
                  <a:pt x="8070567" y="393423"/>
                </a:lnTo>
                <a:lnTo>
                  <a:pt x="8037473" y="419055"/>
                </a:lnTo>
                <a:lnTo>
                  <a:pt x="7998521" y="435613"/>
                </a:lnTo>
                <a:lnTo>
                  <a:pt x="7955318" y="441490"/>
                </a:lnTo>
                <a:lnTo>
                  <a:pt x="163318" y="441490"/>
                </a:lnTo>
                <a:lnTo>
                  <a:pt x="120111" y="435613"/>
                </a:lnTo>
                <a:lnTo>
                  <a:pt x="81156" y="419055"/>
                </a:lnTo>
                <a:lnTo>
                  <a:pt x="48061" y="393423"/>
                </a:lnTo>
                <a:lnTo>
                  <a:pt x="22432" y="360326"/>
                </a:lnTo>
                <a:lnTo>
                  <a:pt x="5875" y="321372"/>
                </a:lnTo>
                <a:lnTo>
                  <a:pt x="0" y="278168"/>
                </a:lnTo>
                <a:lnTo>
                  <a:pt x="0" y="163322"/>
                </a:lnTo>
                <a:close/>
              </a:path>
            </a:pathLst>
          </a:custGeom>
          <a:ln w="7619">
            <a:solidFill>
              <a:srgbClr val="00664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2348547" y="6750101"/>
            <a:ext cx="8252459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006646"/>
                </a:solidFill>
                <a:latin typeface="Arial"/>
                <a:cs typeface="Arial"/>
              </a:rPr>
              <a:t>A/B</a:t>
            </a:r>
            <a:r>
              <a:rPr dirty="0" sz="1400" spc="-45">
                <a:solidFill>
                  <a:srgbClr val="0066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6646"/>
                </a:solidFill>
                <a:latin typeface="Arial"/>
                <a:cs typeface="Arial"/>
              </a:rPr>
              <a:t>TEST</a:t>
            </a:r>
            <a:r>
              <a:rPr dirty="0" sz="1400" spc="-40">
                <a:solidFill>
                  <a:srgbClr val="0066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6646"/>
                </a:solidFill>
                <a:latin typeface="Arial"/>
                <a:cs typeface="Arial"/>
              </a:rPr>
              <a:t>PROMOTIONS</a:t>
            </a:r>
            <a:r>
              <a:rPr dirty="0" sz="1400" spc="-40">
                <a:solidFill>
                  <a:srgbClr val="0066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6646"/>
                </a:solidFill>
                <a:latin typeface="Arial"/>
                <a:cs typeface="Arial"/>
              </a:rPr>
              <a:t>·</a:t>
            </a:r>
            <a:r>
              <a:rPr dirty="0" sz="1400" spc="-40">
                <a:solidFill>
                  <a:srgbClr val="0066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6646"/>
                </a:solidFill>
                <a:latin typeface="Arial"/>
                <a:cs typeface="Arial"/>
              </a:rPr>
              <a:t>DEPLOY</a:t>
            </a:r>
            <a:r>
              <a:rPr dirty="0" sz="1400" spc="-40">
                <a:solidFill>
                  <a:srgbClr val="0066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006646"/>
                </a:solidFill>
                <a:latin typeface="Arial"/>
                <a:cs typeface="Arial"/>
              </a:rPr>
              <a:t>REAL-</a:t>
            </a:r>
            <a:r>
              <a:rPr dirty="0" sz="1400">
                <a:solidFill>
                  <a:srgbClr val="006646"/>
                </a:solidFill>
                <a:latin typeface="Arial"/>
                <a:cs typeface="Arial"/>
              </a:rPr>
              <a:t>TIME</a:t>
            </a:r>
            <a:r>
              <a:rPr dirty="0" sz="1400" spc="-40">
                <a:solidFill>
                  <a:srgbClr val="0066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6646"/>
                </a:solidFill>
                <a:latin typeface="Arial"/>
                <a:cs typeface="Arial"/>
              </a:rPr>
              <a:t>ALERTS</a:t>
            </a:r>
            <a:r>
              <a:rPr dirty="0" sz="1400" spc="-40">
                <a:solidFill>
                  <a:srgbClr val="0066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6646"/>
                </a:solidFill>
                <a:latin typeface="Arial"/>
                <a:cs typeface="Arial"/>
              </a:rPr>
              <a:t>·</a:t>
            </a:r>
            <a:r>
              <a:rPr dirty="0" sz="1400" spc="-40">
                <a:solidFill>
                  <a:srgbClr val="0066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6646"/>
                </a:solidFill>
                <a:latin typeface="Arial"/>
                <a:cs typeface="Arial"/>
              </a:rPr>
              <a:t>EXPAND</a:t>
            </a:r>
            <a:r>
              <a:rPr dirty="0" sz="1400" spc="-40">
                <a:solidFill>
                  <a:srgbClr val="0066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6646"/>
                </a:solidFill>
                <a:latin typeface="Arial"/>
                <a:cs typeface="Arial"/>
              </a:rPr>
              <a:t>DATASET</a:t>
            </a:r>
            <a:r>
              <a:rPr dirty="0" sz="1400" spc="-40">
                <a:solidFill>
                  <a:srgbClr val="0066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6646"/>
                </a:solidFill>
                <a:latin typeface="Arial"/>
                <a:cs typeface="Arial"/>
              </a:rPr>
              <a:t>FOR</a:t>
            </a:r>
            <a:r>
              <a:rPr dirty="0" sz="1400" spc="-40">
                <a:solidFill>
                  <a:srgbClr val="0066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6646"/>
                </a:solidFill>
                <a:latin typeface="Arial"/>
                <a:cs typeface="Arial"/>
              </a:rPr>
              <a:t>CLV</a:t>
            </a:r>
            <a:r>
              <a:rPr dirty="0" sz="1400" spc="-45">
                <a:solidFill>
                  <a:srgbClr val="0066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006646"/>
                </a:solidFill>
                <a:latin typeface="Arial"/>
                <a:cs typeface="Arial"/>
              </a:rPr>
              <a:t>MODELING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2026-02-16T13:40:27Z</dcterms:created>
  <dcterms:modified xsi:type="dcterms:W3CDTF">2026-02-16T13:40:27Z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2026-02-16T00:00:00Z</vt:filetime>
  </property>
  <property fmtid="{D5CDD505-2E9C-101B-9397-08002B2CF9AE}" pid="3" name="Creator">
    <vt:lpwstr>www.smallpdf.com</vt:lpwstr>
  </property>
  <property fmtid="{D5CDD505-2E9C-101B-9397-08002B2CF9AE}" pid="4" name="LastSaved">
    <vt:filetime>2026-02-16T00:00:00Z</vt:filetime>
  </property>
  <property fmtid="{D5CDD505-2E9C-101B-9397-08002B2CF9AE}" pid="5" name="Producer">
    <vt:lpwstr>3-Heights(TM) PDF Security Shell 4.8.25.2 (http://www.pdf-tools.com)</vt:lpwstr>
  </property>
</Properties>
</file>